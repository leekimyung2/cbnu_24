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9" r:id="rId1"/>
    <p:sldMasterId id="2147483795" r:id="rId2"/>
  </p:sldMasterIdLst>
  <p:notesMasterIdLst>
    <p:notesMasterId r:id="rId34"/>
  </p:notesMasterIdLst>
  <p:handoutMasterIdLst>
    <p:handoutMasterId r:id="rId35"/>
  </p:handoutMasterIdLst>
  <p:sldIdLst>
    <p:sldId id="449" r:id="rId3"/>
    <p:sldId id="1017" r:id="rId4"/>
    <p:sldId id="1008" r:id="rId5"/>
    <p:sldId id="999" r:id="rId6"/>
    <p:sldId id="1018" r:id="rId7"/>
    <p:sldId id="1019" r:id="rId8"/>
    <p:sldId id="1023" r:id="rId9"/>
    <p:sldId id="1010" r:id="rId10"/>
    <p:sldId id="1024" r:id="rId11"/>
    <p:sldId id="1027" r:id="rId12"/>
    <p:sldId id="1025" r:id="rId13"/>
    <p:sldId id="1026" r:id="rId14"/>
    <p:sldId id="1021" r:id="rId15"/>
    <p:sldId id="1028" r:id="rId16"/>
    <p:sldId id="1031" r:id="rId17"/>
    <p:sldId id="1041" r:id="rId18"/>
    <p:sldId id="1032" r:id="rId19"/>
    <p:sldId id="1029" r:id="rId20"/>
    <p:sldId id="1030" r:id="rId21"/>
    <p:sldId id="1040" r:id="rId22"/>
    <p:sldId id="1033" r:id="rId23"/>
    <p:sldId id="1034" r:id="rId24"/>
    <p:sldId id="1038" r:id="rId25"/>
    <p:sldId id="1035" r:id="rId26"/>
    <p:sldId id="1036" r:id="rId27"/>
    <p:sldId id="1037" r:id="rId28"/>
    <p:sldId id="1039" r:id="rId29"/>
    <p:sldId id="1011" r:id="rId30"/>
    <p:sldId id="1012" r:id="rId31"/>
    <p:sldId id="1016" r:id="rId32"/>
    <p:sldId id="1006" r:id="rId33"/>
  </p:sldIdLst>
  <p:sldSz cx="9144000" cy="6858000" type="screen4x3"/>
  <p:notesSz cx="6797675" cy="9926638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EE8726-F9F3-41AF-B5F6-E34B9A5B6B90}">
          <p14:sldIdLst>
            <p14:sldId id="449"/>
            <p14:sldId id="1017"/>
            <p14:sldId id="1008"/>
            <p14:sldId id="999"/>
            <p14:sldId id="1018"/>
            <p14:sldId id="1019"/>
            <p14:sldId id="1023"/>
            <p14:sldId id="1010"/>
            <p14:sldId id="1024"/>
            <p14:sldId id="1027"/>
            <p14:sldId id="1025"/>
            <p14:sldId id="1026"/>
            <p14:sldId id="1021"/>
            <p14:sldId id="1028"/>
            <p14:sldId id="1031"/>
            <p14:sldId id="1041"/>
            <p14:sldId id="1032"/>
            <p14:sldId id="1029"/>
            <p14:sldId id="1030"/>
            <p14:sldId id="1040"/>
            <p14:sldId id="1033"/>
            <p14:sldId id="1034"/>
            <p14:sldId id="1038"/>
            <p14:sldId id="1035"/>
            <p14:sldId id="1036"/>
            <p14:sldId id="1037"/>
            <p14:sldId id="1039"/>
            <p14:sldId id="1011"/>
            <p14:sldId id="1012"/>
            <p14:sldId id="1016"/>
            <p14:sldId id="10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92" userDrawn="1">
          <p15:clr>
            <a:srgbClr val="A4A3A4"/>
          </p15:clr>
        </p15:guide>
        <p15:guide id="2" orient="horz" pos="813" userDrawn="1">
          <p15:clr>
            <a:srgbClr val="A4A3A4"/>
          </p15:clr>
        </p15:guide>
        <p15:guide id="3" orient="horz" pos="1122" userDrawn="1">
          <p15:clr>
            <a:srgbClr val="A4A3A4"/>
          </p15:clr>
        </p15:guide>
        <p15:guide id="4" orient="horz" pos="3537" userDrawn="1">
          <p15:clr>
            <a:srgbClr val="A4A3A4"/>
          </p15:clr>
        </p15:guide>
        <p15:guide id="5" orient="horz" pos="4199" userDrawn="1">
          <p15:clr>
            <a:srgbClr val="A4A3A4"/>
          </p15:clr>
        </p15:guide>
        <p15:guide id="6" orient="horz" pos="3921" userDrawn="1">
          <p15:clr>
            <a:srgbClr val="A4A3A4"/>
          </p15:clr>
        </p15:guide>
        <p15:guide id="7" orient="horz" pos="1952" userDrawn="1">
          <p15:clr>
            <a:srgbClr val="A4A3A4"/>
          </p15:clr>
        </p15:guide>
        <p15:guide id="8" pos="5551" userDrawn="1">
          <p15:clr>
            <a:srgbClr val="A4A3A4"/>
          </p15:clr>
        </p15:guide>
        <p15:guide id="9" pos="338" userDrawn="1">
          <p15:clr>
            <a:srgbClr val="A4A3A4"/>
          </p15:clr>
        </p15:guide>
        <p15:guide id="10" pos="4497" userDrawn="1">
          <p15:clr>
            <a:srgbClr val="A4A3A4"/>
          </p15:clr>
        </p15:guide>
        <p15:guide id="11" pos="2829" userDrawn="1">
          <p15:clr>
            <a:srgbClr val="A4A3A4"/>
          </p15:clr>
        </p15:guide>
        <p15:guide id="12" pos="1557" userDrawn="1">
          <p15:clr>
            <a:srgbClr val="A4A3A4"/>
          </p15:clr>
        </p15:guide>
        <p15:guide id="13" pos="3056" userDrawn="1">
          <p15:clr>
            <a:srgbClr val="A4A3A4"/>
          </p15:clr>
        </p15:guide>
        <p15:guide id="14" orient="horz" pos="1102">
          <p15:clr>
            <a:srgbClr val="A4A3A4"/>
          </p15:clr>
        </p15:guide>
        <p15:guide id="15" orient="horz" pos="3067">
          <p15:clr>
            <a:srgbClr val="A4A3A4"/>
          </p15:clr>
        </p15:guide>
        <p15:guide id="16" orient="horz" pos="4201">
          <p15:clr>
            <a:srgbClr val="A4A3A4"/>
          </p15:clr>
        </p15:guide>
        <p15:guide id="17" orient="horz" pos="1933">
          <p15:clr>
            <a:srgbClr val="A4A3A4"/>
          </p15:clr>
        </p15:guide>
        <p15:guide id="18" pos="55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275E"/>
    <a:srgbClr val="9A1F4E"/>
    <a:srgbClr val="E8E8E8"/>
    <a:srgbClr val="152B65"/>
    <a:srgbClr val="8FAADC"/>
    <a:srgbClr val="3367BB"/>
    <a:srgbClr val="CCECFF"/>
    <a:srgbClr val="FFFFCC"/>
    <a:srgbClr val="FFCC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59" autoAdjust="0"/>
    <p:restoredTop sz="92077" autoAdjust="0"/>
  </p:normalViewPr>
  <p:slideViewPr>
    <p:cSldViewPr>
      <p:cViewPr varScale="1">
        <p:scale>
          <a:sx n="113" d="100"/>
          <a:sy n="113" d="100"/>
        </p:scale>
        <p:origin x="1746" y="96"/>
      </p:cViewPr>
      <p:guideLst>
        <p:guide orient="horz" pos="492"/>
        <p:guide orient="horz" pos="813"/>
        <p:guide orient="horz" pos="1122"/>
        <p:guide orient="horz" pos="3537"/>
        <p:guide orient="horz" pos="4199"/>
        <p:guide orient="horz" pos="3921"/>
        <p:guide orient="horz" pos="1952"/>
        <p:guide pos="5551"/>
        <p:guide pos="338"/>
        <p:guide pos="4497"/>
        <p:guide pos="2829"/>
        <p:guide pos="1557"/>
        <p:guide pos="3056"/>
        <p:guide orient="horz" pos="1102"/>
        <p:guide orient="horz" pos="3067"/>
        <p:guide orient="horz" pos="4201"/>
        <p:guide orient="horz" pos="1933"/>
        <p:guide pos="55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1908" y="414"/>
      </p:cViewPr>
      <p:guideLst>
        <p:guide orient="horz" pos="3127"/>
        <p:guide pos="2141"/>
      </p:guideLst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324A1115-9F2D-4D68-85C5-5EC1194C254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92951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15710"/>
            <a:ext cx="5435600" cy="446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BDE6D3F4-B44C-4D4D-B492-8788D90AD2B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1658302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BBD44-7F29-4E49-97C7-26E17827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8E34C6-4200-1AF3-69DF-B0F125E85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060860-0C1B-32DC-0EB7-CC65AD0C7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AECC2E-A141-F59F-D484-14690DBA2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147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BBD44-7F29-4E49-97C7-26E17827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8E34C6-4200-1AF3-69DF-B0F125E85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060860-0C1B-32DC-0EB7-CC65AD0C7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AECC2E-A141-F59F-D484-14690DBA2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147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503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AC059-7225-9F27-9091-53CF2BD3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BDEAC6-1BDC-BBC2-9353-2BD8C4157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F23A9E-D86C-3B7B-C2B4-1C1C761A9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FB1E9-EFD8-C8EE-7C8D-762DDFA8A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075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9685-7F23-F9A1-1D80-B69453E4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B18B73-F5F0-7CEE-9B5E-2F8C8C15C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3804AA-160E-1CA6-8E8E-F3A911BCF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04E12C-C88E-F1AC-EC6D-A59395EF8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257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9685-7F23-F9A1-1D80-B69453E4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B18B73-F5F0-7CEE-9B5E-2F8C8C15C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3804AA-160E-1CA6-8E8E-F3A911BCF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04E12C-C88E-F1AC-EC6D-A59395EF8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274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EC3A-6E98-A112-7E89-E090C3E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F0A2-E33E-2E97-6477-3B162698C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66C7-6C9A-0D7E-2FD9-ECD61DE1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56727-9B7A-498E-18C7-87C42DCE1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978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EC3A-6E98-A112-7E89-E090C3E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F0A2-E33E-2E97-6477-3B162698C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66C7-6C9A-0D7E-2FD9-ECD61DE1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56727-9B7A-498E-18C7-87C42DCE1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733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EC3A-6E98-A112-7E89-E090C3E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F0A2-E33E-2E97-6477-3B162698C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66C7-6C9A-0D7E-2FD9-ECD61DE1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56727-9B7A-498E-18C7-87C42DCE1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996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EC3A-6E98-A112-7E89-E090C3E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F0A2-E33E-2E97-6477-3B162698C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66C7-6C9A-0D7E-2FD9-ECD61DE1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56727-9B7A-498E-18C7-87C42DCE1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0077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EC3A-6E98-A112-7E89-E090C3E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F0A2-E33E-2E97-6477-3B162698C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66C7-6C9A-0D7E-2FD9-ECD61DE1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56727-9B7A-498E-18C7-87C42DCE1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25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025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997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859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0512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011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79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942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0014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8722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7347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122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3163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3304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2409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367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0250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7989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8D07E-D475-740E-D774-B753BBC1A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5E8493-48DB-1744-58F7-F4A427059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7ADD73-8E63-AE13-0665-D29980FA9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DF6B07-78AD-5026-804A-309B2AE2A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7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561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14" name="직사각형 13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2074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F254D-D485-4424-B9F6-B67A605DDF19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953764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310797-E8F0-33FF-3EAC-DF0D297E0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B02B1F-C918-4EA9-8A71-4A69BA71DD78}" type="slidenum">
              <a:rPr lang="en-GB" altLang="ko-KR" smtClean="0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43135767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4F184-09B5-43E3-9B7A-CC3A5F5FC70F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12410962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6954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4037ABE-D605-7DC2-CD98-5957AE0F5873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716561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14089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7828934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3298205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19BEA91-710F-4DA2-A57A-92029721C1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r="6054"/>
          <a:stretch/>
        </p:blipFill>
        <p:spPr>
          <a:xfrm>
            <a:off x="-1256" y="-3606"/>
            <a:ext cx="9144000" cy="792606"/>
          </a:xfrm>
          <a:prstGeom prst="rect">
            <a:avLst/>
          </a:prstGeom>
        </p:spPr>
      </p:pic>
      <p:sp>
        <p:nvSpPr>
          <p:cNvPr id="4137" name="Rectangle 4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116" y="6560298"/>
            <a:ext cx="117020" cy="113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757623" eaLnBrk="0" hangingPunct="0">
              <a:defRPr sz="738">
                <a:solidFill>
                  <a:srgbClr val="000000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64B02B1F-C918-4EA9-8A71-4A69BA71DD78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008097E2-E215-16CD-58E7-6BD749988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71" r:id="rId2"/>
    <p:sldLayoutId id="2147483772" r:id="rId3"/>
    <p:sldLayoutId id="2147483794" r:id="rId4"/>
    <p:sldLayoutId id="2147483773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FF8754-B9F3-D76F-38C3-B0091EEFC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C00000">
                <a:tint val="45000"/>
                <a:satMod val="400000"/>
              </a:srgbClr>
            </a:duotone>
          </a:blip>
          <a:srcRect r="24209"/>
          <a:stretch/>
        </p:blipFill>
        <p:spPr>
          <a:xfrm>
            <a:off x="-1255" y="-3606"/>
            <a:ext cx="7376881" cy="792606"/>
          </a:xfrm>
          <a:custGeom>
            <a:avLst/>
            <a:gdLst>
              <a:gd name="connsiteX0" fmla="*/ 0 w 7376881"/>
              <a:gd name="connsiteY0" fmla="*/ 0 h 792606"/>
              <a:gd name="connsiteX1" fmla="*/ 7376881 w 7376881"/>
              <a:gd name="connsiteY1" fmla="*/ 0 h 792606"/>
              <a:gd name="connsiteX2" fmla="*/ 7335083 w 7376881"/>
              <a:gd name="connsiteY2" fmla="*/ 72101 h 792606"/>
              <a:gd name="connsiteX3" fmla="*/ 6478558 w 7376881"/>
              <a:gd name="connsiteY3" fmla="*/ 773769 h 792606"/>
              <a:gd name="connsiteX4" fmla="*/ 6439960 w 7376881"/>
              <a:gd name="connsiteY4" fmla="*/ 792606 h 792606"/>
              <a:gd name="connsiteX5" fmla="*/ 0 w 7376881"/>
              <a:gd name="connsiteY5" fmla="*/ 792606 h 792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76881" h="792606">
                <a:moveTo>
                  <a:pt x="0" y="0"/>
                </a:moveTo>
                <a:lnTo>
                  <a:pt x="7376881" y="0"/>
                </a:lnTo>
                <a:lnTo>
                  <a:pt x="7335083" y="72101"/>
                </a:lnTo>
                <a:cubicBezTo>
                  <a:pt x="7153136" y="331561"/>
                  <a:pt x="6859280" y="569153"/>
                  <a:pt x="6478558" y="773769"/>
                </a:cubicBezTo>
                <a:lnTo>
                  <a:pt x="6439960" y="792606"/>
                </a:lnTo>
                <a:lnTo>
                  <a:pt x="0" y="792606"/>
                </a:lnTo>
                <a:close/>
              </a:path>
            </a:pathLst>
          </a:custGeom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617EA2C-9563-3A9C-CD52-0AE019419479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B15DAD-E0C6-A00C-DFBE-C16F6DB1373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BDD22-E678-EB87-D6D2-EB743F53AA76}"/>
              </a:ext>
            </a:extLst>
          </p:cNvPr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066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10" Type="http://schemas.openxmlformats.org/officeDocument/2006/relationships/image" Target="../media/image19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ltralytics/ultralytic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e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mendeley.com/datasets/766ygrbt8y/3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aihub.or.kr/aihubdata/data/view.do?currMenu=&amp;topMenu=&amp;aihubDataSe=data&amp;dataSetSn=71626" TargetMode="External"/><Relationship Id="rId5" Type="http://schemas.openxmlformats.org/officeDocument/2006/relationships/hyperlink" Target="https://roboflow.com/" TargetMode="External"/><Relationship Id="rId4" Type="http://schemas.openxmlformats.org/officeDocument/2006/relationships/hyperlink" Target="https://acdc.vision.ee.ethz.ch/download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951C254-D3FE-4F55-B884-40C49A8602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6399033"/>
            <a:ext cx="1444806" cy="26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42296-B25A-27A7-7E69-7939DB0BA19F}"/>
              </a:ext>
            </a:extLst>
          </p:cNvPr>
          <p:cNvSpPr txBox="1"/>
          <p:nvPr/>
        </p:nvSpPr>
        <p:spPr>
          <a:xfrm>
            <a:off x="1016960" y="2193435"/>
            <a:ext cx="7110079" cy="875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4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프로젝트</a:t>
            </a:r>
            <a:r>
              <a:rPr lang="en-US" altLang="ko-KR" sz="4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#1 </a:t>
            </a:r>
            <a:r>
              <a:rPr lang="ko-KR" altLang="en-US" sz="4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발표평가</a:t>
            </a:r>
            <a:endParaRPr lang="en-US" altLang="ko-KR" sz="4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D12AAC-3E69-1D46-503B-5B89E4C8F6DA}"/>
              </a:ext>
            </a:extLst>
          </p:cNvPr>
          <p:cNvSpPr txBox="1"/>
          <p:nvPr/>
        </p:nvSpPr>
        <p:spPr>
          <a:xfrm>
            <a:off x="656956" y="3068996"/>
            <a:ext cx="7830088" cy="51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딥러닝 기반 논문 리뷰</a:t>
            </a:r>
            <a:endParaRPr lang="en-US" altLang="ko-KR" sz="2400" b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571C43D-1094-CBC8-93A7-E64A401C7D9C}"/>
              </a:ext>
            </a:extLst>
          </p:cNvPr>
          <p:cNvSpPr/>
          <p:nvPr/>
        </p:nvSpPr>
        <p:spPr bwMode="auto">
          <a:xfrm>
            <a:off x="115260" y="102298"/>
            <a:ext cx="2678427" cy="270003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지능화캡스톤프로젝트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 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#1 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발표평가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A753DFA-B0B6-48D7-8164-64A9FD6E3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956" y="4890130"/>
            <a:ext cx="7290083" cy="79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>
            <a:lvl1pPr marL="0" indent="0" algn="l" defTabSz="647700" rtl="0" eaLnBrk="0" fontAlgn="base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None/>
              <a:defRPr sz="16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44500" indent="-180975" algn="l" defTabSz="647700" rtl="0" eaLnBrk="0" fontAlgn="base" hangingPunct="0">
              <a:lnSpc>
                <a:spcPct val="105000"/>
              </a:lnSpc>
              <a:spcBef>
                <a:spcPct val="5000"/>
              </a:spcBef>
              <a:spcAft>
                <a:spcPct val="0"/>
              </a:spcAft>
              <a:buClr>
                <a:srgbClr val="F37121"/>
              </a:buClr>
              <a:buFont typeface="Arial Unicode MS" pitchFamily="50" charset="-127"/>
              <a:buChar char="–"/>
              <a:defRPr sz="1400">
                <a:solidFill>
                  <a:srgbClr val="000000"/>
                </a:solidFill>
                <a:latin typeface="+mn-lt"/>
              </a:defRPr>
            </a:lvl2pPr>
            <a:lvl3pPr marL="628650" indent="-182563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3pPr>
            <a:lvl4pPr marL="811213" indent="-180975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Arial" pitchFamily="34" charset="0"/>
              <a:buChar char="-"/>
              <a:defRPr sz="1400">
                <a:solidFill>
                  <a:srgbClr val="000000"/>
                </a:solidFill>
                <a:latin typeface="+mn-lt"/>
              </a:defRPr>
            </a:lvl4pPr>
            <a:lvl5pPr marL="993775" indent="-180975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5pPr>
            <a:lvl6pPr marL="14509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6pPr>
            <a:lvl7pPr marL="19081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7pPr>
            <a:lvl8pPr marL="23653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8pPr>
            <a:lvl9pPr marL="28225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9pPr>
          </a:lstStyle>
          <a:p>
            <a:pPr algn="ctr" eaLnBrk="1" hangingPunct="1"/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[7</a:t>
            </a:r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조</a:t>
            </a:r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] </a:t>
            </a:r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김진하</a:t>
            </a:r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팀장</a:t>
            </a:r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유진호</a:t>
            </a:r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b="0" dirty="0" err="1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이기명</a:t>
            </a:r>
            <a:endParaRPr lang="en-US" altLang="ko-KR" b="0" dirty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/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jhkim0623@avgenius.kr, jhyoo@avgenius.kr, dlrlaud0501@co-ms.co.kr </a:t>
            </a:r>
          </a:p>
          <a:p>
            <a:pPr algn="ctr" eaLnBrk="1" hangingPunct="1"/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충</a:t>
            </a:r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</a:rPr>
              <a:t>북대학교 산업인공지능학과</a:t>
            </a:r>
            <a:endParaRPr lang="en-GB" altLang="ko-KR" b="0" dirty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0E02-3417-9313-EC23-20CF483F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E1CE6F-76AD-000F-FC26-1ED75C8B7A1E}"/>
              </a:ext>
            </a:extLst>
          </p:cNvPr>
          <p:cNvSpPr/>
          <p:nvPr/>
        </p:nvSpPr>
        <p:spPr bwMode="auto">
          <a:xfrm>
            <a:off x="1007441" y="1583763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44DB7F6-FF4D-9D0C-9F40-0FE318A46B04}"/>
              </a:ext>
            </a:extLst>
          </p:cNvPr>
          <p:cNvGrpSpPr/>
          <p:nvPr/>
        </p:nvGrpSpPr>
        <p:grpSpPr>
          <a:xfrm>
            <a:off x="684584" y="1494115"/>
            <a:ext cx="892810" cy="892810"/>
            <a:chOff x="611956" y="1268976"/>
            <a:chExt cx="772344" cy="7723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43373F4-2E7B-8903-8CE2-0B4727255424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 dirty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0" lang="ko-KR" altLang="en-US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원형: 비어 있음 9">
              <a:extLst>
                <a:ext uri="{FF2B5EF4-FFF2-40B4-BE49-F238E27FC236}">
                  <a16:creationId xmlns:a16="http://schemas.microsoft.com/office/drawing/2014/main" id="{2C433100-51C9-040F-E15D-ECEE4E91FD4B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63AB9A9-9021-5A6F-0EA2-F269AB9BFEEB}"/>
              </a:ext>
            </a:extLst>
          </p:cNvPr>
          <p:cNvSpPr txBox="1"/>
          <p:nvPr/>
        </p:nvSpPr>
        <p:spPr>
          <a:xfrm>
            <a:off x="1016960" y="858239"/>
            <a:ext cx="7110079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CONTENTS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B832B4C-A785-B90A-53E1-EEB7FDBA694E}"/>
              </a:ext>
            </a:extLst>
          </p:cNvPr>
          <p:cNvSpPr/>
          <p:nvPr/>
        </p:nvSpPr>
        <p:spPr bwMode="auto">
          <a:xfrm>
            <a:off x="1007441" y="2513122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906A9AF-C8CB-2CE4-1191-BDD34460B712}"/>
              </a:ext>
            </a:extLst>
          </p:cNvPr>
          <p:cNvGrpSpPr/>
          <p:nvPr/>
        </p:nvGrpSpPr>
        <p:grpSpPr>
          <a:xfrm>
            <a:off x="684584" y="2423474"/>
            <a:ext cx="892810" cy="892810"/>
            <a:chOff x="611956" y="1268976"/>
            <a:chExt cx="772344" cy="772344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B107DAFD-9A61-9215-2786-657BC8F93286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 dirty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II</a:t>
              </a:r>
              <a:endParaRPr kumimoji="0" lang="ko-KR" altLang="en-US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원형: 비어 있음 69">
              <a:extLst>
                <a:ext uri="{FF2B5EF4-FFF2-40B4-BE49-F238E27FC236}">
                  <a16:creationId xmlns:a16="http://schemas.microsoft.com/office/drawing/2014/main" id="{FE03CDB2-3657-1F6D-113B-0C30131481C2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71B02D9E-1E71-E7CE-557A-0A0E94437863}"/>
              </a:ext>
            </a:extLst>
          </p:cNvPr>
          <p:cNvSpPr/>
          <p:nvPr/>
        </p:nvSpPr>
        <p:spPr bwMode="auto">
          <a:xfrm>
            <a:off x="1007441" y="344248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FD185EA5-580C-659B-0138-EC5E05E0FB39}"/>
              </a:ext>
            </a:extLst>
          </p:cNvPr>
          <p:cNvSpPr/>
          <p:nvPr/>
        </p:nvSpPr>
        <p:spPr bwMode="auto">
          <a:xfrm>
            <a:off x="684584" y="335283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원형: 비어 있음 74">
            <a:extLst>
              <a:ext uri="{FF2B5EF4-FFF2-40B4-BE49-F238E27FC236}">
                <a16:creationId xmlns:a16="http://schemas.microsoft.com/office/drawing/2014/main" id="{8F198A70-FC60-0877-B322-9360D1ACD8FD}"/>
              </a:ext>
            </a:extLst>
          </p:cNvPr>
          <p:cNvSpPr/>
          <p:nvPr/>
        </p:nvSpPr>
        <p:spPr bwMode="auto">
          <a:xfrm>
            <a:off x="718847" y="338709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1452986-DABC-30DA-C446-FB53EF55A64E}"/>
              </a:ext>
            </a:extLst>
          </p:cNvPr>
          <p:cNvSpPr/>
          <p:nvPr/>
        </p:nvSpPr>
        <p:spPr bwMode="auto">
          <a:xfrm>
            <a:off x="1007441" y="4371840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A01D40BA-86E6-050D-8ED4-8652281AA359}"/>
              </a:ext>
            </a:extLst>
          </p:cNvPr>
          <p:cNvSpPr/>
          <p:nvPr/>
        </p:nvSpPr>
        <p:spPr bwMode="auto">
          <a:xfrm>
            <a:off x="684584" y="4282192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원형: 비어 있음 79">
            <a:extLst>
              <a:ext uri="{FF2B5EF4-FFF2-40B4-BE49-F238E27FC236}">
                <a16:creationId xmlns:a16="http://schemas.microsoft.com/office/drawing/2014/main" id="{B4D7C20E-7284-6173-CF49-1DDE69650CE0}"/>
              </a:ext>
            </a:extLst>
          </p:cNvPr>
          <p:cNvSpPr/>
          <p:nvPr/>
        </p:nvSpPr>
        <p:spPr bwMode="auto">
          <a:xfrm>
            <a:off x="718847" y="4316455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BD59DEE-2319-7898-87A5-8370B2DBDCD8}"/>
              </a:ext>
            </a:extLst>
          </p:cNvPr>
          <p:cNvSpPr/>
          <p:nvPr/>
        </p:nvSpPr>
        <p:spPr bwMode="auto">
          <a:xfrm>
            <a:off x="1007441" y="530120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D1452B7-32FC-E53F-7ED7-9758B0E1F153}"/>
              </a:ext>
            </a:extLst>
          </p:cNvPr>
          <p:cNvSpPr/>
          <p:nvPr/>
        </p:nvSpPr>
        <p:spPr bwMode="auto">
          <a:xfrm>
            <a:off x="684584" y="521155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원형: 비어 있음 84">
            <a:extLst>
              <a:ext uri="{FF2B5EF4-FFF2-40B4-BE49-F238E27FC236}">
                <a16:creationId xmlns:a16="http://schemas.microsoft.com/office/drawing/2014/main" id="{157A5F63-566D-25E2-6244-A31A611B1811}"/>
              </a:ext>
            </a:extLst>
          </p:cNvPr>
          <p:cNvSpPr/>
          <p:nvPr/>
        </p:nvSpPr>
        <p:spPr bwMode="auto">
          <a:xfrm>
            <a:off x="718847" y="524581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3185146-9791-486D-69D7-EF78025638B0}"/>
              </a:ext>
            </a:extLst>
          </p:cNvPr>
          <p:cNvSpPr txBox="1"/>
          <p:nvPr/>
        </p:nvSpPr>
        <p:spPr>
          <a:xfrm>
            <a:off x="1891949" y="1597641"/>
            <a:ext cx="2082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프로젝트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#1 </a:t>
            </a:r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개요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DB39E71-0A0A-BC03-2274-739250D53486}"/>
              </a:ext>
            </a:extLst>
          </p:cNvPr>
          <p:cNvSpPr txBox="1"/>
          <p:nvPr/>
        </p:nvSpPr>
        <p:spPr>
          <a:xfrm>
            <a:off x="1911844" y="1978237"/>
            <a:ext cx="5165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프로젝트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개요 및 선정 논문 소개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팀 구성원 소개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및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업무분장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4A7EBCB-10ED-0A4A-72EE-FBB93E6E90DA}"/>
              </a:ext>
            </a:extLst>
          </p:cNvPr>
          <p:cNvSpPr txBox="1"/>
          <p:nvPr/>
        </p:nvSpPr>
        <p:spPr>
          <a:xfrm>
            <a:off x="1891949" y="2533813"/>
            <a:ext cx="23839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서론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(Introduction)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AE6A570-1F99-2BE3-0F53-25CF4E465B3D}"/>
              </a:ext>
            </a:extLst>
          </p:cNvPr>
          <p:cNvSpPr txBox="1"/>
          <p:nvPr/>
        </p:nvSpPr>
        <p:spPr>
          <a:xfrm>
            <a:off x="1911844" y="2914409"/>
            <a:ext cx="2924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배경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필요성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문제 정의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D70BE0A-6F25-7259-EE57-2AA0793C797E}"/>
              </a:ext>
            </a:extLst>
          </p:cNvPr>
          <p:cNvSpPr txBox="1"/>
          <p:nvPr/>
        </p:nvSpPr>
        <p:spPr>
          <a:xfrm>
            <a:off x="1891949" y="3458906"/>
            <a:ext cx="5593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방법 및 구현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(Methodology &amp; Implementation)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FCE7C25-4275-8625-A44C-C578BEA75030}"/>
              </a:ext>
            </a:extLst>
          </p:cNvPr>
          <p:cNvSpPr txBox="1"/>
          <p:nvPr/>
        </p:nvSpPr>
        <p:spPr>
          <a:xfrm>
            <a:off x="1911844" y="3839502"/>
            <a:ext cx="41889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리뷰 논문의 연구 방법론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구현 결과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코드 설명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등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EB72F57-4BB7-5D88-569B-2F3FC2196FE6}"/>
              </a:ext>
            </a:extLst>
          </p:cNvPr>
          <p:cNvSpPr txBox="1"/>
          <p:nvPr/>
        </p:nvSpPr>
        <p:spPr>
          <a:xfrm>
            <a:off x="1891949" y="4395078"/>
            <a:ext cx="52645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실험 구성 및 평가 방법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(Experiment Settings)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A24CC2-FBB0-32F4-F482-1EE9DCE1AD24}"/>
              </a:ext>
            </a:extLst>
          </p:cNvPr>
          <p:cNvSpPr txBox="1"/>
          <p:nvPr/>
        </p:nvSpPr>
        <p:spPr>
          <a:xfrm>
            <a:off x="1911844" y="4775674"/>
            <a:ext cx="4164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데이터셋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하이퍼파라미터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컴퓨팅 환경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평가지표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CD9292-7992-5B6A-A39D-3F6EF1859311}"/>
              </a:ext>
            </a:extLst>
          </p:cNvPr>
          <p:cNvSpPr txBox="1"/>
          <p:nvPr/>
        </p:nvSpPr>
        <p:spPr>
          <a:xfrm>
            <a:off x="1891949" y="5317626"/>
            <a:ext cx="3890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결과 및 분석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(Results &amp; Analysis)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63D5396-8747-F0DB-A672-B9552FEC6550}"/>
              </a:ext>
            </a:extLst>
          </p:cNvPr>
          <p:cNvSpPr txBox="1"/>
          <p:nvPr/>
        </p:nvSpPr>
        <p:spPr>
          <a:xfrm>
            <a:off x="1911844" y="5698222"/>
            <a:ext cx="4219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학습 결과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정확도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혼동행렬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비교 평가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결과 분석</a:t>
            </a:r>
          </a:p>
        </p:txBody>
      </p:sp>
      <p:sp>
        <p:nvSpPr>
          <p:cNvPr id="97" name="제목 96">
            <a:extLst>
              <a:ext uri="{FF2B5EF4-FFF2-40B4-BE49-F238E27FC236}">
                <a16:creationId xmlns:a16="http://schemas.microsoft.com/office/drawing/2014/main" id="{6449DDCE-00F9-EE78-73DB-E3DB540E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80374368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0E02-3417-9313-EC23-20CF483F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63AB9A9-9021-5A6F-0EA2-F269AB9BFEEB}"/>
              </a:ext>
            </a:extLst>
          </p:cNvPr>
          <p:cNvSpPr txBox="1"/>
          <p:nvPr/>
        </p:nvSpPr>
        <p:spPr>
          <a:xfrm>
            <a:off x="1016960" y="858239"/>
            <a:ext cx="7110079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CONTENTS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1452986-DABC-30DA-C446-FB53EF55A64E}"/>
              </a:ext>
            </a:extLst>
          </p:cNvPr>
          <p:cNvSpPr/>
          <p:nvPr/>
        </p:nvSpPr>
        <p:spPr bwMode="auto">
          <a:xfrm>
            <a:off x="1007441" y="1706622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A01D40BA-86E6-050D-8ED4-8652281AA359}"/>
              </a:ext>
            </a:extLst>
          </p:cNvPr>
          <p:cNvSpPr/>
          <p:nvPr/>
        </p:nvSpPr>
        <p:spPr bwMode="auto">
          <a:xfrm>
            <a:off x="684584" y="1616974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원형: 비어 있음 79">
            <a:extLst>
              <a:ext uri="{FF2B5EF4-FFF2-40B4-BE49-F238E27FC236}">
                <a16:creationId xmlns:a16="http://schemas.microsoft.com/office/drawing/2014/main" id="{B4D7C20E-7284-6173-CF49-1DDE69650CE0}"/>
              </a:ext>
            </a:extLst>
          </p:cNvPr>
          <p:cNvSpPr/>
          <p:nvPr/>
        </p:nvSpPr>
        <p:spPr bwMode="auto">
          <a:xfrm>
            <a:off x="718847" y="1651237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BD59DEE-2319-7898-87A5-8370B2DBDCD8}"/>
              </a:ext>
            </a:extLst>
          </p:cNvPr>
          <p:cNvSpPr/>
          <p:nvPr/>
        </p:nvSpPr>
        <p:spPr bwMode="auto">
          <a:xfrm>
            <a:off x="1007441" y="2635983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D1452B7-32FC-E53F-7ED7-9758B0E1F153}"/>
              </a:ext>
            </a:extLst>
          </p:cNvPr>
          <p:cNvSpPr/>
          <p:nvPr/>
        </p:nvSpPr>
        <p:spPr bwMode="auto">
          <a:xfrm>
            <a:off x="684584" y="2546335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VII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원형: 비어 있음 84">
            <a:extLst>
              <a:ext uri="{FF2B5EF4-FFF2-40B4-BE49-F238E27FC236}">
                <a16:creationId xmlns:a16="http://schemas.microsoft.com/office/drawing/2014/main" id="{157A5F63-566D-25E2-6244-A31A611B1811}"/>
              </a:ext>
            </a:extLst>
          </p:cNvPr>
          <p:cNvSpPr/>
          <p:nvPr/>
        </p:nvSpPr>
        <p:spPr bwMode="auto">
          <a:xfrm>
            <a:off x="718847" y="2580598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EB72F57-4BB7-5D88-569B-2F3FC2196FE6}"/>
              </a:ext>
            </a:extLst>
          </p:cNvPr>
          <p:cNvSpPr txBox="1"/>
          <p:nvPr/>
        </p:nvSpPr>
        <p:spPr>
          <a:xfrm>
            <a:off x="1891949" y="1729860"/>
            <a:ext cx="4985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한계점 및 토론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(Limitations &amp; Discussions)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A24CC2-FBB0-32F4-F482-1EE9DCE1AD24}"/>
              </a:ext>
            </a:extLst>
          </p:cNvPr>
          <p:cNvSpPr txBox="1"/>
          <p:nvPr/>
        </p:nvSpPr>
        <p:spPr>
          <a:xfrm>
            <a:off x="1911844" y="2110456"/>
            <a:ext cx="4697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본 주제의 연구 방향에 있어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리뷰 논문의 한계점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등 논의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CD9292-7992-5B6A-A39D-3F6EF1859311}"/>
              </a:ext>
            </a:extLst>
          </p:cNvPr>
          <p:cNvSpPr txBox="1"/>
          <p:nvPr/>
        </p:nvSpPr>
        <p:spPr>
          <a:xfrm>
            <a:off x="1891949" y="2652408"/>
            <a:ext cx="1771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향후 연구 방안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63D5396-8747-F0DB-A672-B9552FEC6550}"/>
              </a:ext>
            </a:extLst>
          </p:cNvPr>
          <p:cNvSpPr txBox="1"/>
          <p:nvPr/>
        </p:nvSpPr>
        <p:spPr>
          <a:xfrm>
            <a:off x="1911844" y="3033004"/>
            <a:ext cx="41424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리뷰 논문의 개선 방안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본 주제로의 적용 방안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등</a:t>
            </a:r>
          </a:p>
        </p:txBody>
      </p:sp>
      <p:sp>
        <p:nvSpPr>
          <p:cNvPr id="97" name="제목 96">
            <a:extLst>
              <a:ext uri="{FF2B5EF4-FFF2-40B4-BE49-F238E27FC236}">
                <a16:creationId xmlns:a16="http://schemas.microsoft.com/office/drawing/2014/main" id="{6449DDCE-00F9-EE78-73DB-E3DB540E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88845530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C633F-B60D-FEBA-ED2F-B3F10B03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</a:t>
            </a:r>
            <a:r>
              <a:rPr lang="en-US" altLang="ko-KR" dirty="0"/>
              <a:t>#1 </a:t>
            </a:r>
            <a:r>
              <a:rPr lang="ko-KR" altLang="en-US" dirty="0"/>
              <a:t>개요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21BDDA6-631E-4C8A-B1DA-6C84310A0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8312034" cy="4902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프로젝트 목표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프로젝트 배경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및 필요성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프로젝트 배경</a:t>
            </a: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자율주행 중 악천후 환경에서도 안정적인 인지 성능이 중요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악천후 환경에 대한 강건한 인지 성능은 자율주행차의 성능 안전성을 보장하고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조기 상용화의 발판 마련 측면에서 중요</a:t>
            </a:r>
            <a:br>
              <a:rPr lang="en-US" altLang="ko-KR" sz="14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</a:br>
            <a:endParaRPr lang="en-US" altLang="ko-KR" sz="14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프로젝트 필요성</a:t>
            </a: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동적 객체와 지속적인 환경 변화로 인해 주행환경 인지의 어려움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눈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비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안개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야간 조명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황사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강한 햇빛 등과 같은 악천후로 인해 인지 성능이 저하되기 때문에 악천후에서 자율주행 관련 객체 감지와 같은 카메라 기반 인지 정확도를 향상시키는  연구 필요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1547F48-FA59-4DBF-9D8A-F747C073379B}"/>
              </a:ext>
            </a:extLst>
          </p:cNvPr>
          <p:cNvSpPr/>
          <p:nvPr/>
        </p:nvSpPr>
        <p:spPr bwMode="auto">
          <a:xfrm>
            <a:off x="748276" y="1578798"/>
            <a:ext cx="7616792" cy="536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다양한 악천후 환경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야간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비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안개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눈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황사 등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)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에서 </a:t>
            </a:r>
            <a:endParaRPr lang="en-US" altLang="ko-KR" sz="1600" dirty="0">
              <a:solidFill>
                <a:schemeClr val="tx1"/>
              </a:solidFill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YOLOv8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을 활용한 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Object Detection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 성능 검증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89474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A5F2-7333-2989-E46D-29A50FA3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5FF8C-6426-1564-3CD2-9A95BB71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</a:t>
            </a:r>
            <a:r>
              <a:rPr lang="en-US" altLang="ko-KR" dirty="0"/>
              <a:t>#1 </a:t>
            </a:r>
            <a:r>
              <a:rPr lang="ko-KR" altLang="en-US" dirty="0"/>
              <a:t>개요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D119E02-E50B-499B-9567-56C41E5BE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8312034" cy="320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선정 논문</a:t>
            </a:r>
            <a:endParaRPr lang="en-US" altLang="ko-KR" kern="0" dirty="0">
              <a:solidFill>
                <a:srgbClr val="0033CC"/>
              </a:solidFill>
              <a:latin typeface="+mn-ea"/>
              <a:ea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80D897A-B998-4480-882B-E52CE9D81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033784"/>
              </p:ext>
            </p:extLst>
          </p:nvPr>
        </p:nvGraphicFramePr>
        <p:xfrm>
          <a:off x="557814" y="1564144"/>
          <a:ext cx="8100090" cy="17170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8719">
                  <a:extLst>
                    <a:ext uri="{9D8B030D-6E8A-4147-A177-3AD203B41FA5}">
                      <a16:colId xmlns:a16="http://schemas.microsoft.com/office/drawing/2014/main" val="4170148597"/>
                    </a:ext>
                  </a:extLst>
                </a:gridCol>
                <a:gridCol w="6251371">
                  <a:extLst>
                    <a:ext uri="{9D8B030D-6E8A-4147-A177-3AD203B41FA5}">
                      <a16:colId xmlns:a16="http://schemas.microsoft.com/office/drawing/2014/main" val="974918593"/>
                    </a:ext>
                  </a:extLst>
                </a:gridCol>
              </a:tblGrid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논문 제목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Object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Detection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in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Adverse Weather for Autonomous Driving through Data Merging and YOLOv8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087363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출판사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저널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MDPI / Sensors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112152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IF/JCR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3.4 / SCIE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311154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인용횟수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23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723098"/>
                  </a:ext>
                </a:extLst>
              </a:tr>
            </a:tbl>
          </a:graphicData>
        </a:graphic>
      </p:graphicFrame>
      <p:sp>
        <p:nvSpPr>
          <p:cNvPr id="11" name="Rectangle 3">
            <a:extLst>
              <a:ext uri="{FF2B5EF4-FFF2-40B4-BE49-F238E27FC236}">
                <a16:creationId xmlns:a16="http://schemas.microsoft.com/office/drawing/2014/main" id="{19CE213B-2C3F-4311-881C-3C912B93E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3677428"/>
            <a:ext cx="8312034" cy="320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팀 구성원 소개 및 역할분담</a:t>
            </a:r>
            <a:endParaRPr lang="en-US" altLang="ko-KR" kern="0" dirty="0">
              <a:solidFill>
                <a:srgbClr val="0033CC"/>
              </a:solidFill>
              <a:latin typeface="+mn-ea"/>
              <a:ea typeface="+mn-ea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DE2B77C-A5D7-45D3-97C0-9DC2EFDA9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1809"/>
              </p:ext>
            </p:extLst>
          </p:nvPr>
        </p:nvGraphicFramePr>
        <p:xfrm>
          <a:off x="557814" y="4129070"/>
          <a:ext cx="8100092" cy="16866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5023">
                  <a:extLst>
                    <a:ext uri="{9D8B030D-6E8A-4147-A177-3AD203B41FA5}">
                      <a16:colId xmlns:a16="http://schemas.microsoft.com/office/drawing/2014/main" val="4170148597"/>
                    </a:ext>
                  </a:extLst>
                </a:gridCol>
                <a:gridCol w="2025023">
                  <a:extLst>
                    <a:ext uri="{9D8B030D-6E8A-4147-A177-3AD203B41FA5}">
                      <a16:colId xmlns:a16="http://schemas.microsoft.com/office/drawing/2014/main" val="974918593"/>
                    </a:ext>
                  </a:extLst>
                </a:gridCol>
                <a:gridCol w="2025023">
                  <a:extLst>
                    <a:ext uri="{9D8B030D-6E8A-4147-A177-3AD203B41FA5}">
                      <a16:colId xmlns:a16="http://schemas.microsoft.com/office/drawing/2014/main" val="1175147742"/>
                    </a:ext>
                  </a:extLst>
                </a:gridCol>
                <a:gridCol w="2025023">
                  <a:extLst>
                    <a:ext uri="{9D8B030D-6E8A-4147-A177-3AD203B41FA5}">
                      <a16:colId xmlns:a16="http://schemas.microsoft.com/office/drawing/2014/main" val="165681411"/>
                    </a:ext>
                  </a:extLst>
                </a:gridCol>
              </a:tblGrid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소속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직위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087363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김진하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에이브이지니어스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 총괄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112152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유진호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에이브이지니어스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분류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및 데이터 </a:t>
                      </a:r>
                      <a:r>
                        <a:rPr lang="ko-KR" altLang="en-US" sz="13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전처리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311154"/>
                  </a:ext>
                </a:extLst>
              </a:tr>
              <a:tr h="399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이기명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코엠에스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모델 학습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검증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723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92857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0D13-A7F8-4502-DD65-20B5774B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800F3-E48B-C1FF-262C-90F45017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 </a:t>
            </a:r>
            <a:r>
              <a:rPr lang="en-US" altLang="ko-KR" dirty="0"/>
              <a:t>(Introduction)</a:t>
            </a:r>
            <a:endParaRPr lang="ko-KR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F951966-619B-479F-B6E7-958262743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872263"/>
            <a:ext cx="8402035" cy="4849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인지 성능의 중요성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객체 인식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(Object Detection)</a:t>
            </a: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여러 센서 중 카메라는 주행 환경 및 객체 인식에 필수적인 센서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카메라는 다양한 날씨 환경에서 일관된 기능을 유지하기 어려움</a:t>
            </a:r>
            <a:br>
              <a:rPr lang="en-US" altLang="ko-KR" sz="14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</a:br>
            <a:endParaRPr lang="en-US" altLang="ko-KR" sz="14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자율주행시스템 인지 성능의 위협</a:t>
            </a: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동적 객체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악천후 환경으로 인한 인지 성능의 악화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rgbClr val="0033CC"/>
              </a:solidFill>
              <a:latin typeface="+mn-ea"/>
              <a:ea typeface="+mn-ea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399A80E-F7C8-43C8-8749-5DA6DFD528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987" y="4959018"/>
            <a:ext cx="1710019" cy="11395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F373AA-B456-4C4D-82F7-1525BC1D3367}"/>
              </a:ext>
            </a:extLst>
          </p:cNvPr>
          <p:cNvSpPr txBox="1"/>
          <p:nvPr/>
        </p:nvSpPr>
        <p:spPr>
          <a:xfrm>
            <a:off x="1568991" y="6077820"/>
            <a:ext cx="900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fog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3E0E4C4-6D2C-4EB7-B3F7-AD3DEFEA94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365" y="4959019"/>
            <a:ext cx="1710019" cy="11422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D525D6-7E55-4CE6-8FA4-2A0EB728AF4D}"/>
              </a:ext>
            </a:extLst>
          </p:cNvPr>
          <p:cNvSpPr txBox="1"/>
          <p:nvPr/>
        </p:nvSpPr>
        <p:spPr>
          <a:xfrm>
            <a:off x="3424369" y="6083017"/>
            <a:ext cx="900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rain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32C056C-6381-4E6D-81F6-DBC842F77A6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742" y="4959018"/>
            <a:ext cx="1858147" cy="11395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F76E37-96E2-4117-9B91-6275C8A84E76}"/>
              </a:ext>
            </a:extLst>
          </p:cNvPr>
          <p:cNvSpPr txBox="1"/>
          <p:nvPr/>
        </p:nvSpPr>
        <p:spPr>
          <a:xfrm>
            <a:off x="5353810" y="6068794"/>
            <a:ext cx="900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snow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EAC3E60-9F9B-4104-A9DF-833838CF05F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357" y="4959017"/>
            <a:ext cx="1972513" cy="11395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92EC002-CF9C-4B08-B781-2738D2395CE4}"/>
              </a:ext>
            </a:extLst>
          </p:cNvPr>
          <p:cNvSpPr txBox="1"/>
          <p:nvPr/>
        </p:nvSpPr>
        <p:spPr>
          <a:xfrm>
            <a:off x="7490655" y="6059768"/>
            <a:ext cx="900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night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83073A-33E6-4DAA-8CB1-0D4E6BD791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3854" y="2258987"/>
            <a:ext cx="4302514" cy="191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1536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0D13-A7F8-4502-DD65-20B5774B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800F3-E48B-C1FF-262C-90F45017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 </a:t>
            </a:r>
            <a:r>
              <a:rPr lang="en-US" altLang="ko-KR" dirty="0"/>
              <a:t>(Introduction)</a:t>
            </a:r>
            <a:endParaRPr lang="ko-KR" alt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7BBF9B93-4DF4-48FB-A9AB-62D12F5CA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783464"/>
            <a:ext cx="8402035" cy="5548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인지 성능의 중요성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객체 탐지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(Object Detection)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연구 동향</a:t>
            </a: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Computer Vision techniques : Camera,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LiDAR,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Radar,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GNSS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등 센서 퓨전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Deep-learning frameworks : YOLO</a:t>
            </a: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악천후 데이터셋 부족 문제</a:t>
            </a: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신경망 방식이 방대한 양의 데이터셋에 의존하지만 활용 가능한 악천후 환경 데이터셋 부족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다양한 날씨 환경 데이터셋의 양을 늘려 딥러닝 프레임워크 성능 향상 방법 제시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114362" lvl="2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Data augmentation : GAN/</a:t>
            </a:r>
            <a:r>
              <a:rPr lang="en-US" altLang="ko-KR" sz="1400" kern="0" dirty="0" err="1">
                <a:solidFill>
                  <a:schemeClr val="tx1"/>
                </a:solidFill>
                <a:latin typeface="+mn-ea"/>
                <a:ea typeface="+mn-ea"/>
              </a:rPr>
              <a:t>CycleGAN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기반 다양한 기상 조건 생성 및 데이터셋 증강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[1]</a:t>
            </a: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rgbClr val="0033CC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rgbClr val="0033CC"/>
              </a:solidFill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3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제안 방식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인공적 환경의 데이터셋 생성 대신 실제 환경 데이터셋 통합</a:t>
            </a: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여러 소스의 다양한 데이터셋을 병합한 데이터 구축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(Data Merging)</a:t>
            </a: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각 데이터셋의 데이터마다 균일한 레이블링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(annotation),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크기 조정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(resize)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을 하는 </a:t>
            </a:r>
            <a:r>
              <a:rPr lang="ko-KR" altLang="en-US" sz="1400" kern="0" dirty="0" err="1">
                <a:solidFill>
                  <a:schemeClr val="tx1"/>
                </a:solidFill>
                <a:latin typeface="+mn-ea"/>
                <a:ea typeface="+mn-ea"/>
              </a:rPr>
              <a:t>전처리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진행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YOLOv8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기반 딥러닝을 통한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Object Detection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성능 검증 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B3689C0-C988-4174-8BBF-25AE23343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49" y="3516210"/>
            <a:ext cx="2086710" cy="139344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1C3BACF-D4FE-4790-ADBC-F6E016668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988" y="3519001"/>
            <a:ext cx="2591978" cy="1393440"/>
          </a:xfrm>
          <a:prstGeom prst="rect">
            <a:avLst/>
          </a:prstGeom>
        </p:spPr>
      </p:pic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695E0F2C-6D97-42C4-B4B8-807353AAA5A7}"/>
              </a:ext>
            </a:extLst>
          </p:cNvPr>
          <p:cNvSpPr/>
          <p:nvPr/>
        </p:nvSpPr>
        <p:spPr bwMode="auto">
          <a:xfrm>
            <a:off x="2992578" y="4059007"/>
            <a:ext cx="360004" cy="180002"/>
          </a:xfrm>
          <a:prstGeom prst="rightArrow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B7AC5498-B3C8-4712-8313-181951A0D343}"/>
              </a:ext>
            </a:extLst>
          </p:cNvPr>
          <p:cNvSpPr/>
          <p:nvPr/>
        </p:nvSpPr>
        <p:spPr bwMode="auto">
          <a:xfrm>
            <a:off x="6223372" y="4059007"/>
            <a:ext cx="360004" cy="180002"/>
          </a:xfrm>
          <a:prstGeom prst="rightArrow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D18B7F-B111-41AA-ABCA-1DAF6FCC5B45}"/>
              </a:ext>
            </a:extLst>
          </p:cNvPr>
          <p:cNvSpPr txBox="1"/>
          <p:nvPr/>
        </p:nvSpPr>
        <p:spPr>
          <a:xfrm>
            <a:off x="6590417" y="3493012"/>
            <a:ext cx="2430026" cy="1552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44000" algn="l">
              <a:lnSpc>
                <a:spcPct val="120000"/>
              </a:lnSpc>
              <a:buAutoNum type="arabicPeriod"/>
            </a:pPr>
            <a:r>
              <a:rPr lang="ko-KR" altLang="en-US" sz="1000" dirty="0">
                <a:solidFill>
                  <a:srgbClr val="00B0F0"/>
                </a:solidFill>
              </a:rPr>
              <a:t>악천후 이미지가 실제 주행 환경을 완벽히 반영하지 못해 객체 탐지 성능 제한적</a:t>
            </a:r>
            <a:r>
              <a:rPr lang="en-US" altLang="ko-KR" sz="1000" dirty="0">
                <a:solidFill>
                  <a:srgbClr val="00B0F0"/>
                </a:solidFill>
              </a:rPr>
              <a:t>[2]</a:t>
            </a:r>
          </a:p>
          <a:p>
            <a:pPr marL="180000" indent="-144000" algn="l">
              <a:lnSpc>
                <a:spcPct val="120000"/>
              </a:lnSpc>
              <a:buAutoNum type="arabicPeriod"/>
            </a:pPr>
            <a:r>
              <a:rPr lang="en-US" altLang="ko-KR" sz="1000" dirty="0" err="1">
                <a:solidFill>
                  <a:srgbClr val="00B0F0"/>
                </a:solidFill>
              </a:rPr>
              <a:t>CycleGAN</a:t>
            </a:r>
            <a:r>
              <a:rPr lang="ko-KR" altLang="en-US" sz="1000" dirty="0">
                <a:solidFill>
                  <a:srgbClr val="00B0F0"/>
                </a:solidFill>
              </a:rPr>
              <a:t>은 날씨로 인한 이미지 열화를 효과적으로 복원 어려움</a:t>
            </a:r>
            <a:r>
              <a:rPr lang="en-US" altLang="ko-KR" sz="1000" dirty="0">
                <a:solidFill>
                  <a:srgbClr val="00B0F0"/>
                </a:solidFill>
              </a:rPr>
              <a:t>[3]</a:t>
            </a:r>
          </a:p>
          <a:p>
            <a:pPr marL="180000" indent="-144000" algn="l">
              <a:lnSpc>
                <a:spcPct val="120000"/>
              </a:lnSpc>
              <a:buAutoNum type="arabicPeriod"/>
            </a:pPr>
            <a:r>
              <a:rPr lang="en-US" altLang="ko-KR" sz="1000" dirty="0" err="1">
                <a:solidFill>
                  <a:srgbClr val="00B0F0"/>
                </a:solidFill>
              </a:rPr>
              <a:t>CycleGAN</a:t>
            </a:r>
            <a:r>
              <a:rPr lang="ko-KR" altLang="en-US" sz="1000" dirty="0">
                <a:solidFill>
                  <a:srgbClr val="00B0F0"/>
                </a:solidFill>
              </a:rPr>
              <a:t>이 실제 악천후 조건을 반영하지 못해 이미지 변환 시 불확실성 고려</a:t>
            </a:r>
            <a:r>
              <a:rPr lang="en-US" altLang="ko-KR" sz="1000" dirty="0">
                <a:solidFill>
                  <a:srgbClr val="00B0F0"/>
                </a:solidFill>
              </a:rPr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400876061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F2F40C28-F832-41FB-88BF-D08DA8CC9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818971"/>
            <a:ext cx="8402035" cy="322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데이터 수집 및 어노테이션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(Data Collection and Annotation)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활용 데이터셋</a:t>
            </a: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DAWN : Vehicle Detection in Adverse Weather Nature Dataset</a:t>
            </a: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ACDC : Adverse Conditions Dataset with Correspondences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데이터셋 특성</a:t>
            </a: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2" lvl="2" indent="0">
              <a:lnSpc>
                <a:spcPct val="11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3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병합 데이터셋 구축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서로 다른 데이터셋의 형식 통일</a:t>
            </a: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전이학습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(Transfer Learning) : COCO Dataset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과 동일한 클래스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ID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로 레이블링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COCO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기반 클래스 매핑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: DAWN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+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ACDC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→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COCO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490F42AD-27D8-4A18-9567-2735E8112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91014"/>
              </p:ext>
            </p:extLst>
          </p:nvPr>
        </p:nvGraphicFramePr>
        <p:xfrm>
          <a:off x="898565" y="2433227"/>
          <a:ext cx="6463466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6542">
                  <a:extLst>
                    <a:ext uri="{9D8B030D-6E8A-4147-A177-3AD203B41FA5}">
                      <a16:colId xmlns:a16="http://schemas.microsoft.com/office/drawing/2014/main" val="2354445767"/>
                    </a:ext>
                  </a:extLst>
                </a:gridCol>
                <a:gridCol w="1386876">
                  <a:extLst>
                    <a:ext uri="{9D8B030D-6E8A-4147-A177-3AD203B41FA5}">
                      <a16:colId xmlns:a16="http://schemas.microsoft.com/office/drawing/2014/main" val="2019085186"/>
                    </a:ext>
                  </a:extLst>
                </a:gridCol>
                <a:gridCol w="990011">
                  <a:extLst>
                    <a:ext uri="{9D8B030D-6E8A-4147-A177-3AD203B41FA5}">
                      <a16:colId xmlns:a16="http://schemas.microsoft.com/office/drawing/2014/main" val="1541476601"/>
                    </a:ext>
                  </a:extLst>
                </a:gridCol>
                <a:gridCol w="990011">
                  <a:extLst>
                    <a:ext uri="{9D8B030D-6E8A-4147-A177-3AD203B41FA5}">
                      <a16:colId xmlns:a16="http://schemas.microsoft.com/office/drawing/2014/main" val="3720144500"/>
                    </a:ext>
                  </a:extLst>
                </a:gridCol>
                <a:gridCol w="2340026">
                  <a:extLst>
                    <a:ext uri="{9D8B030D-6E8A-4147-A177-3AD203B41FA5}">
                      <a16:colId xmlns:a16="http://schemas.microsoft.com/office/drawing/2014/main" val="953603773"/>
                    </a:ext>
                  </a:extLst>
                </a:gridCol>
              </a:tblGrid>
              <a:tr h="2119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데이터셋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날씨 환경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수량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이미지 타입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레이블링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887758"/>
                  </a:ext>
                </a:extLst>
              </a:tr>
              <a:tr h="211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DAWN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fog, rain, sand, snow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1,027 </a:t>
                      </a:r>
                      <a:r>
                        <a:rPr lang="ko-KR" altLang="en-US" sz="1000" dirty="0"/>
                        <a:t>이미지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jpg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Bounding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Box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514456"/>
                  </a:ext>
                </a:extLst>
              </a:tr>
              <a:tr h="211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ACDC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fog,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night,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rain,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snow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4,006 </a:t>
                      </a:r>
                      <a:r>
                        <a:rPr lang="ko-KR" altLang="en-US" sz="1000" dirty="0"/>
                        <a:t>이미지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/>
                        <a:t>png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Semantic Segmentation, Bounding Box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788336"/>
                  </a:ext>
                </a:extLst>
              </a:tr>
            </a:tbl>
          </a:graphicData>
        </a:graphic>
      </p:graphicFrame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A20B592F-5C54-4160-9AB4-F70AF1685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043034"/>
              </p:ext>
            </p:extLst>
          </p:nvPr>
        </p:nvGraphicFramePr>
        <p:xfrm>
          <a:off x="1151962" y="4059007"/>
          <a:ext cx="4410049" cy="2346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009">
                  <a:extLst>
                    <a:ext uri="{9D8B030D-6E8A-4147-A177-3AD203B41FA5}">
                      <a16:colId xmlns:a16="http://schemas.microsoft.com/office/drawing/2014/main" val="4151782378"/>
                    </a:ext>
                  </a:extLst>
                </a:gridCol>
                <a:gridCol w="1170013">
                  <a:extLst>
                    <a:ext uri="{9D8B030D-6E8A-4147-A177-3AD203B41FA5}">
                      <a16:colId xmlns:a16="http://schemas.microsoft.com/office/drawing/2014/main" val="3890103557"/>
                    </a:ext>
                  </a:extLst>
                </a:gridCol>
                <a:gridCol w="1170013">
                  <a:extLst>
                    <a:ext uri="{9D8B030D-6E8A-4147-A177-3AD203B41FA5}">
                      <a16:colId xmlns:a16="http://schemas.microsoft.com/office/drawing/2014/main" val="2662142278"/>
                    </a:ext>
                  </a:extLst>
                </a:gridCol>
                <a:gridCol w="1260014">
                  <a:extLst>
                    <a:ext uri="{9D8B030D-6E8A-4147-A177-3AD203B41FA5}">
                      <a16:colId xmlns:a16="http://schemas.microsoft.com/office/drawing/2014/main" val="2951630835"/>
                    </a:ext>
                  </a:extLst>
                </a:gridCol>
              </a:tblGrid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COCO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클래스명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(COCO)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DAWN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클래스 매핑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ACDC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클래스 매핑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742578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Person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Person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Person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524435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Bicycle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Bicycle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Bicycle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98143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Car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Car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Car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044965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Motorcycle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Motorcycle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Motorcycle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147980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Airplane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687707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Bus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Bus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Bus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537073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Train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Train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689251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Truck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Truck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Truck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145258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boat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94824"/>
                  </a:ext>
                </a:extLst>
              </a:tr>
              <a:tr h="193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Traffic light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9142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CF41CA8-FDE7-4E1B-9743-64FC51AF4BF3}"/>
              </a:ext>
            </a:extLst>
          </p:cNvPr>
          <p:cNvSpPr txBox="1"/>
          <p:nvPr/>
        </p:nvSpPr>
        <p:spPr>
          <a:xfrm>
            <a:off x="6012016" y="4550945"/>
            <a:ext cx="3187714" cy="11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 algn="l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000" dirty="0">
                <a:solidFill>
                  <a:srgbClr val="00B0F0"/>
                </a:solidFill>
              </a:rPr>
              <a:t>T/L</a:t>
            </a:r>
            <a:r>
              <a:rPr lang="ko-KR" altLang="en-US" sz="1000" dirty="0">
                <a:solidFill>
                  <a:srgbClr val="00B0F0"/>
                </a:solidFill>
              </a:rPr>
              <a:t>을 통해 </a:t>
            </a:r>
            <a:r>
              <a:rPr lang="en-US" altLang="ko-KR" sz="1000" dirty="0">
                <a:solidFill>
                  <a:srgbClr val="00B0F0"/>
                </a:solidFill>
              </a:rPr>
              <a:t>YOLOv8</a:t>
            </a:r>
            <a:r>
              <a:rPr lang="ko-KR" altLang="en-US" sz="1000" dirty="0">
                <a:solidFill>
                  <a:srgbClr val="00B0F0"/>
                </a:solidFill>
              </a:rPr>
              <a:t>이 </a:t>
            </a:r>
            <a:r>
              <a:rPr lang="en-US" altLang="ko-KR" sz="1000" dirty="0">
                <a:solidFill>
                  <a:srgbClr val="00B0F0"/>
                </a:solidFill>
              </a:rPr>
              <a:t>COCO </a:t>
            </a:r>
            <a:r>
              <a:rPr lang="ko-KR" altLang="en-US" sz="1000" dirty="0">
                <a:solidFill>
                  <a:srgbClr val="00B0F0"/>
                </a:solidFill>
              </a:rPr>
              <a:t>데이터셋 학습 경험을 활용하여 빠르고 안정적  학습</a:t>
            </a:r>
            <a:endParaRPr lang="en-US" altLang="ko-KR" sz="1000" dirty="0">
              <a:solidFill>
                <a:srgbClr val="00B0F0"/>
              </a:solidFill>
            </a:endParaRPr>
          </a:p>
          <a:p>
            <a:pPr marL="144000" indent="-144000" algn="l">
              <a:lnSpc>
                <a:spcPct val="120000"/>
              </a:lnSpc>
              <a:buFont typeface="+mj-lt"/>
              <a:buAutoNum type="arabicPeriod"/>
            </a:pPr>
            <a:r>
              <a:rPr lang="ko-KR" altLang="en-US" sz="1000" dirty="0">
                <a:solidFill>
                  <a:srgbClr val="00B0F0"/>
                </a:solidFill>
              </a:rPr>
              <a:t>도로와 관련 없는 객체</a:t>
            </a:r>
            <a:r>
              <a:rPr lang="en-US" altLang="ko-KR" sz="1000" dirty="0">
                <a:solidFill>
                  <a:srgbClr val="00B0F0"/>
                </a:solidFill>
              </a:rPr>
              <a:t>(airplane, boat)</a:t>
            </a:r>
            <a:r>
              <a:rPr lang="ko-KR" altLang="en-US" sz="1000" dirty="0">
                <a:solidFill>
                  <a:srgbClr val="00B0F0"/>
                </a:solidFill>
              </a:rPr>
              <a:t>는 학습에서 제외</a:t>
            </a:r>
            <a:endParaRPr lang="en-US" altLang="ko-KR" sz="1000" dirty="0">
              <a:solidFill>
                <a:srgbClr val="00B0F0"/>
              </a:solidFill>
            </a:endParaRPr>
          </a:p>
          <a:p>
            <a:pPr marL="144000" indent="-144000" algn="l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000" dirty="0">
                <a:solidFill>
                  <a:srgbClr val="00B0F0"/>
                </a:solidFill>
              </a:rPr>
              <a:t>DAWN</a:t>
            </a:r>
            <a:r>
              <a:rPr lang="ko-KR" altLang="en-US" sz="1000" dirty="0">
                <a:solidFill>
                  <a:srgbClr val="00B0F0"/>
                </a:solidFill>
              </a:rPr>
              <a:t>의 클래스 레이블을 </a:t>
            </a:r>
            <a:r>
              <a:rPr lang="en-US" altLang="ko-KR" sz="1000" dirty="0">
                <a:solidFill>
                  <a:srgbClr val="00B0F0"/>
                </a:solidFill>
              </a:rPr>
              <a:t>COCO ID</a:t>
            </a:r>
            <a:r>
              <a:rPr lang="ko-KR" altLang="en-US" sz="1000" dirty="0">
                <a:solidFill>
                  <a:srgbClr val="00B0F0"/>
                </a:solidFill>
              </a:rPr>
              <a:t>로 매핑</a:t>
            </a:r>
            <a:endParaRPr lang="en-US" altLang="ko-KR" sz="1000" dirty="0">
              <a:solidFill>
                <a:srgbClr val="00B0F0"/>
              </a:solidFill>
            </a:endParaRPr>
          </a:p>
          <a:p>
            <a:pPr marL="144000" indent="-144000" algn="l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000" dirty="0">
                <a:solidFill>
                  <a:srgbClr val="00B0F0"/>
                </a:solidFill>
              </a:rPr>
              <a:t>ACDC</a:t>
            </a:r>
            <a:r>
              <a:rPr lang="ko-KR" altLang="en-US" sz="1000" dirty="0">
                <a:solidFill>
                  <a:srgbClr val="00B0F0"/>
                </a:solidFill>
              </a:rPr>
              <a:t>의 클래스 레이블을 </a:t>
            </a:r>
            <a:r>
              <a:rPr lang="en-US" altLang="ko-KR" sz="1000" dirty="0">
                <a:solidFill>
                  <a:srgbClr val="00B0F0"/>
                </a:solidFill>
              </a:rPr>
              <a:t>COCO ID</a:t>
            </a:r>
            <a:r>
              <a:rPr lang="ko-KR" altLang="en-US" sz="1000" dirty="0">
                <a:solidFill>
                  <a:srgbClr val="00B0F0"/>
                </a:solidFill>
              </a:rPr>
              <a:t>로 매핑</a:t>
            </a:r>
            <a:endParaRPr lang="en-US" altLang="ko-KR" sz="1000" dirty="0">
              <a:solidFill>
                <a:srgbClr val="00B0F0"/>
              </a:solidFill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49CC9C1-4FF6-4570-97FA-EF1D8BE61F66}"/>
              </a:ext>
            </a:extLst>
          </p:cNvPr>
          <p:cNvSpPr/>
          <p:nvPr/>
        </p:nvSpPr>
        <p:spPr bwMode="auto">
          <a:xfrm>
            <a:off x="5652012" y="5142486"/>
            <a:ext cx="360004" cy="180002"/>
          </a:xfrm>
          <a:prstGeom prst="rightArrow">
            <a:avLst/>
          </a:prstGeom>
          <a:solidFill>
            <a:srgbClr val="0033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46844-DDE4-47EF-BDCB-1E890CE6D8F2}"/>
              </a:ext>
            </a:extLst>
          </p:cNvPr>
          <p:cNvSpPr txBox="1"/>
          <p:nvPr/>
        </p:nvSpPr>
        <p:spPr>
          <a:xfrm>
            <a:off x="6533971" y="1268976"/>
            <a:ext cx="2610029" cy="998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1000" dirty="0">
                <a:solidFill>
                  <a:srgbClr val="00B0F0"/>
                </a:solidFill>
              </a:rPr>
              <a:t>BDD100K,</a:t>
            </a:r>
            <a:r>
              <a:rPr lang="ko-KR" altLang="en-US" sz="1000" dirty="0">
                <a:solidFill>
                  <a:srgbClr val="00B0F0"/>
                </a:solidFill>
              </a:rPr>
              <a:t> </a:t>
            </a:r>
            <a:r>
              <a:rPr lang="en-US" altLang="ko-KR" sz="1000" dirty="0" err="1">
                <a:solidFill>
                  <a:srgbClr val="00B0F0"/>
                </a:solidFill>
              </a:rPr>
              <a:t>Eurocity</a:t>
            </a:r>
            <a:r>
              <a:rPr lang="en-US" altLang="ko-KR" sz="1000" dirty="0">
                <a:solidFill>
                  <a:srgbClr val="00B0F0"/>
                </a:solidFill>
              </a:rPr>
              <a:t>,</a:t>
            </a:r>
            <a:r>
              <a:rPr lang="ko-KR" altLang="en-US" sz="1000" dirty="0">
                <a:solidFill>
                  <a:srgbClr val="00B0F0"/>
                </a:solidFill>
              </a:rPr>
              <a:t> </a:t>
            </a:r>
            <a:r>
              <a:rPr lang="en-US" altLang="ko-KR" sz="1000" dirty="0" err="1">
                <a:solidFill>
                  <a:srgbClr val="00B0F0"/>
                </a:solidFill>
              </a:rPr>
              <a:t>Mapillary</a:t>
            </a:r>
            <a:r>
              <a:rPr lang="en-US" altLang="ko-KR" sz="1000" dirty="0">
                <a:solidFill>
                  <a:srgbClr val="00B0F0"/>
                </a:solidFill>
              </a:rPr>
              <a:t>,</a:t>
            </a:r>
            <a:r>
              <a:rPr lang="ko-KR" altLang="en-US" sz="1000" dirty="0">
                <a:solidFill>
                  <a:srgbClr val="00B0F0"/>
                </a:solidFill>
              </a:rPr>
              <a:t> </a:t>
            </a:r>
            <a:r>
              <a:rPr lang="en-US" altLang="ko-KR" sz="1000" dirty="0">
                <a:solidFill>
                  <a:srgbClr val="00B0F0"/>
                </a:solidFill>
              </a:rPr>
              <a:t>PFB,</a:t>
            </a:r>
            <a:r>
              <a:rPr lang="ko-KR" altLang="en-US" sz="1000" dirty="0">
                <a:solidFill>
                  <a:srgbClr val="00B0F0"/>
                </a:solidFill>
              </a:rPr>
              <a:t> </a:t>
            </a:r>
            <a:r>
              <a:rPr lang="en-US" altLang="ko-KR" sz="1000" dirty="0" err="1">
                <a:solidFill>
                  <a:srgbClr val="00B0F0"/>
                </a:solidFill>
              </a:rPr>
              <a:t>ApolloScape</a:t>
            </a:r>
            <a:r>
              <a:rPr lang="en-US" altLang="ko-KR" sz="1000" dirty="0">
                <a:solidFill>
                  <a:srgbClr val="00B0F0"/>
                </a:solidFill>
              </a:rPr>
              <a:t>, GLARE </a:t>
            </a:r>
            <a:r>
              <a:rPr lang="ko-KR" altLang="en-US" sz="1000" dirty="0">
                <a:solidFill>
                  <a:srgbClr val="00B0F0"/>
                </a:solidFill>
              </a:rPr>
              <a:t>등 기타 데이터셋은 악천후 환경 이미지 데이터셋 개수가 적은 문제가 있어 비교적 악천후 데이터가 풍부한 </a:t>
            </a:r>
            <a:r>
              <a:rPr lang="en-US" altLang="ko-KR" sz="1000" dirty="0">
                <a:solidFill>
                  <a:srgbClr val="00B0F0"/>
                </a:solidFill>
              </a:rPr>
              <a:t>DAWN, ACDC </a:t>
            </a:r>
            <a:r>
              <a:rPr lang="ko-KR" altLang="en-US" sz="1000" dirty="0">
                <a:solidFill>
                  <a:srgbClr val="00B0F0"/>
                </a:solidFill>
              </a:rPr>
              <a:t>데이터셋 선정</a:t>
            </a:r>
            <a:endParaRPr lang="en-US" altLang="ko-KR" sz="1000" dirty="0">
              <a:solidFill>
                <a:srgbClr val="00B0F0"/>
              </a:solidFill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29E88179-6AA6-4715-A747-AB6EFC5A5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</p:spPr>
        <p:txBody>
          <a:bodyPr/>
          <a:lstStyle/>
          <a:p>
            <a:r>
              <a:rPr lang="ko-KR" altLang="en-US" dirty="0"/>
              <a:t>방법 및 구현 </a:t>
            </a:r>
            <a:r>
              <a:rPr lang="en-US" altLang="ko-KR" dirty="0"/>
              <a:t>(Methodology &amp; Implementation)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901107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F2F40C28-F832-41FB-88BF-D08DA8CC9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818971"/>
            <a:ext cx="8402035" cy="3136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데이터 구성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DAWN [5]</a:t>
            </a: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ACDC [6]</a:t>
            </a:r>
            <a:endParaRPr lang="ko-KR" altLang="en-US" sz="15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7B9E054D-77F8-4F89-BB5B-A8E58939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</p:spPr>
        <p:txBody>
          <a:bodyPr/>
          <a:lstStyle/>
          <a:p>
            <a:r>
              <a:rPr lang="ko-KR" altLang="en-US" dirty="0"/>
              <a:t>방법 및 구현 </a:t>
            </a:r>
            <a:r>
              <a:rPr lang="en-US" altLang="ko-KR" dirty="0"/>
              <a:t>(Methodology &amp; Implementation)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2A6C7C6-62E9-4C3E-82ED-01085297B8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26" y="1641091"/>
            <a:ext cx="2189761" cy="136689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75A1C0C-086C-412B-B31E-957B71CD22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351" y="1641091"/>
            <a:ext cx="2189761" cy="136689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7CD2D73-257E-456F-9C0E-2522147AE7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867" y="1628980"/>
            <a:ext cx="2080404" cy="136689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E9C1B37-09F9-4AF4-A013-8C8BB2D681C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026" y="1628980"/>
            <a:ext cx="2051137" cy="136689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AFA3950-E528-40E1-A212-5E0E8D8AAA68}"/>
              </a:ext>
            </a:extLst>
          </p:cNvPr>
          <p:cNvSpPr txBox="1"/>
          <p:nvPr/>
        </p:nvSpPr>
        <p:spPr>
          <a:xfrm>
            <a:off x="701957" y="3028090"/>
            <a:ext cx="12600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fog (300 images)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AC8EB1-472F-4C90-9102-D10E570213D1}"/>
              </a:ext>
            </a:extLst>
          </p:cNvPr>
          <p:cNvSpPr txBox="1"/>
          <p:nvPr/>
        </p:nvSpPr>
        <p:spPr>
          <a:xfrm>
            <a:off x="2967224" y="3028090"/>
            <a:ext cx="12600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rain (200 images)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4AD1B1-A64E-4E33-B3B3-9A77DFA6D0C5}"/>
              </a:ext>
            </a:extLst>
          </p:cNvPr>
          <p:cNvSpPr txBox="1"/>
          <p:nvPr/>
        </p:nvSpPr>
        <p:spPr>
          <a:xfrm>
            <a:off x="5198283" y="3022625"/>
            <a:ext cx="12600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sand (323 images)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6271F3-3678-4EC1-9084-56B53C7944F8}"/>
              </a:ext>
            </a:extLst>
          </p:cNvPr>
          <p:cNvSpPr txBox="1"/>
          <p:nvPr/>
        </p:nvSpPr>
        <p:spPr>
          <a:xfrm>
            <a:off x="7396804" y="3031804"/>
            <a:ext cx="12600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snow (204 images)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ABE98BE-716B-4AEA-B1B6-9C7CF339CB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69" y="4073693"/>
            <a:ext cx="2189761" cy="123174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FDC4694-D970-413C-A90A-3638C087B07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294" y="4073693"/>
            <a:ext cx="2189761" cy="123174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0BF6935-C7B5-49EE-AA9A-2BE2FA5B3FC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11" y="4073693"/>
            <a:ext cx="2189762" cy="1231741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5845E207-9ED5-4E47-A8D6-8A146AD49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026" y="4076241"/>
            <a:ext cx="2185233" cy="122919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E0A6F9-A664-42CD-8224-F6609C623AA6}"/>
              </a:ext>
            </a:extLst>
          </p:cNvPr>
          <p:cNvSpPr txBox="1"/>
          <p:nvPr/>
        </p:nvSpPr>
        <p:spPr>
          <a:xfrm>
            <a:off x="611956" y="5305434"/>
            <a:ext cx="12600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fog (1,000 images)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FBB665-6F02-424A-9D65-973225953221}"/>
              </a:ext>
            </a:extLst>
          </p:cNvPr>
          <p:cNvSpPr txBox="1"/>
          <p:nvPr/>
        </p:nvSpPr>
        <p:spPr>
          <a:xfrm>
            <a:off x="2810477" y="5309147"/>
            <a:ext cx="14247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night (1,006 images)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44DF4E-75C4-4803-B2CA-8C11D8D06809}"/>
              </a:ext>
            </a:extLst>
          </p:cNvPr>
          <p:cNvSpPr txBox="1"/>
          <p:nvPr/>
        </p:nvSpPr>
        <p:spPr>
          <a:xfrm>
            <a:off x="5108282" y="5299969"/>
            <a:ext cx="12600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rain (1,000 images)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76D083-D703-42C3-A7E3-8482DFFEF864}"/>
              </a:ext>
            </a:extLst>
          </p:cNvPr>
          <p:cNvSpPr txBox="1"/>
          <p:nvPr/>
        </p:nvSpPr>
        <p:spPr>
          <a:xfrm>
            <a:off x="7306802" y="5309148"/>
            <a:ext cx="13500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snow (1,000 images)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91679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F2F40C28-F832-41FB-88BF-D08DA8CC9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818971"/>
            <a:ext cx="8402035" cy="3490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데이터 처리 및 통합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(Data Processing and Merging)</a:t>
            </a: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병합 데이터셋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(DAWN+ACDC Merged)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의 이미지 처리</a:t>
            </a: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이미지 처리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(image processing) : image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resizing,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image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augmentation </a:t>
            </a:r>
            <a:r>
              <a:rPr lang="en-US" altLang="ko-KR" sz="1400" kern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</a:t>
            </a:r>
            <a:r>
              <a:rPr lang="en-US" altLang="ko-KR" sz="1400" kern="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Roboflow</a:t>
            </a:r>
            <a:r>
              <a:rPr lang="en-US" altLang="ko-KR" sz="1400" kern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[7]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병합 데이터셋은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YOLOv8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에 의한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train, validation, test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를 위해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5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가지 버전으로 준비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D7D876-3BD7-43DD-8C6D-B39D12A09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008" y="2117827"/>
            <a:ext cx="2399405" cy="15359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EC3FA160-A22E-4935-A781-182AD5B24FEA}"/>
              </a:ext>
            </a:extLst>
          </p:cNvPr>
          <p:cNvSpPr/>
          <p:nvPr/>
        </p:nvSpPr>
        <p:spPr bwMode="auto">
          <a:xfrm>
            <a:off x="7362031" y="1845733"/>
            <a:ext cx="156369" cy="233252"/>
          </a:xfrm>
          <a:prstGeom prst="downArrow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E36C971D-B99A-4C22-8988-8E93E3040699}"/>
              </a:ext>
            </a:extLst>
          </p:cNvPr>
          <p:cNvGraphicFramePr>
            <a:graphicFrameLocks noGrp="1"/>
          </p:cNvGraphicFramePr>
          <p:nvPr/>
        </p:nvGraphicFramePr>
        <p:xfrm>
          <a:off x="1151962" y="1962359"/>
          <a:ext cx="4770053" cy="12333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0023">
                  <a:extLst>
                    <a:ext uri="{9D8B030D-6E8A-4147-A177-3AD203B41FA5}">
                      <a16:colId xmlns:a16="http://schemas.microsoft.com/office/drawing/2014/main" val="4181050294"/>
                    </a:ext>
                  </a:extLst>
                </a:gridCol>
                <a:gridCol w="2700030">
                  <a:extLst>
                    <a:ext uri="{9D8B030D-6E8A-4147-A177-3AD203B41FA5}">
                      <a16:colId xmlns:a16="http://schemas.microsoft.com/office/drawing/2014/main" val="2837433213"/>
                    </a:ext>
                  </a:extLst>
                </a:gridCol>
              </a:tblGrid>
              <a:tr h="3083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Image Processing</a:t>
                      </a:r>
                      <a:endParaRPr lang="ko-KR" altLang="en-US" sz="11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method</a:t>
                      </a:r>
                      <a:endParaRPr lang="ko-KR" altLang="en-US" sz="11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407014"/>
                  </a:ext>
                </a:extLst>
              </a:tr>
              <a:tr h="3083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Image Resizing (640</a:t>
                      </a:r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altLang="ko-KR" sz="1100" dirty="0"/>
                        <a:t>640)</a:t>
                      </a:r>
                      <a:endParaRPr lang="ko-KR" altLang="en-US" sz="11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/>
                        <a:t>horizontal flips, vertical flips, cropping, grayscales, brightness, blurring, rotations, shears, hues, saturation, exposure, noise, cutouts, mosaics,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0356952"/>
                  </a:ext>
                </a:extLst>
              </a:tr>
              <a:tr h="308347"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Image Resizing (1280</a:t>
                      </a:r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altLang="ko-KR" sz="1100" dirty="0"/>
                        <a:t>1280)</a:t>
                      </a:r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245694"/>
                  </a:ext>
                </a:extLst>
              </a:tr>
              <a:tr h="3083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Image Augmentation</a:t>
                      </a:r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7325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3AF3963-3F24-4F96-A97D-8DA8D623344D}"/>
              </a:ext>
            </a:extLst>
          </p:cNvPr>
          <p:cNvSpPr/>
          <p:nvPr/>
        </p:nvSpPr>
        <p:spPr bwMode="auto">
          <a:xfrm>
            <a:off x="7023393" y="1590138"/>
            <a:ext cx="1058645" cy="21675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표 11">
            <a:extLst>
              <a:ext uri="{FF2B5EF4-FFF2-40B4-BE49-F238E27FC236}">
                <a16:creationId xmlns:a16="http://schemas.microsoft.com/office/drawing/2014/main" id="{9F5E7444-F8CC-4E86-9C26-63F7C1D95DBA}"/>
              </a:ext>
            </a:extLst>
          </p:cNvPr>
          <p:cNvGraphicFramePr>
            <a:graphicFrameLocks noGrp="1"/>
          </p:cNvGraphicFramePr>
          <p:nvPr/>
        </p:nvGraphicFramePr>
        <p:xfrm>
          <a:off x="342543" y="4422363"/>
          <a:ext cx="3839495" cy="1545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8850">
                  <a:extLst>
                    <a:ext uri="{9D8B030D-6E8A-4147-A177-3AD203B41FA5}">
                      <a16:colId xmlns:a16="http://schemas.microsoft.com/office/drawing/2014/main" val="3585740345"/>
                    </a:ext>
                  </a:extLst>
                </a:gridCol>
                <a:gridCol w="2530645">
                  <a:extLst>
                    <a:ext uri="{9D8B030D-6E8A-4147-A177-3AD203B41FA5}">
                      <a16:colId xmlns:a16="http://schemas.microsoft.com/office/drawing/2014/main" val="1179779914"/>
                    </a:ext>
                  </a:extLst>
                </a:gridCol>
              </a:tblGrid>
              <a:tr h="2575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병합 데이터셋 버전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학습 데이터셋 구성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501547"/>
                  </a:ext>
                </a:extLst>
              </a:tr>
              <a:tr h="257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원본 데이터셋 </a:t>
                      </a:r>
                      <a:r>
                        <a:rPr lang="en-US" altLang="ko-KR" sz="1000" dirty="0"/>
                        <a:t>(resizing X, augmentation X)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344786"/>
                  </a:ext>
                </a:extLst>
              </a:tr>
              <a:tr h="257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640*640 resizing &amp; augmentation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476748"/>
                  </a:ext>
                </a:extLst>
              </a:tr>
              <a:tr h="257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640*640 resizing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(augmentation X)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0445087"/>
                  </a:ext>
                </a:extLst>
              </a:tr>
              <a:tr h="257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1280*1280 resizing (augmentation X)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859433"/>
                  </a:ext>
                </a:extLst>
              </a:tr>
              <a:tr h="257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1280*1280 resizing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&amp;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augmentation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196255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2BAA8A7F-379B-4651-BC29-B931DD526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0744" y="4422363"/>
            <a:ext cx="4798564" cy="1545300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7B9E054D-77F8-4F89-BB5B-A8E58939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</p:spPr>
        <p:txBody>
          <a:bodyPr/>
          <a:lstStyle/>
          <a:p>
            <a:r>
              <a:rPr lang="ko-KR" altLang="en-US" dirty="0"/>
              <a:t>방법 및 구현 </a:t>
            </a:r>
            <a:r>
              <a:rPr lang="en-US" altLang="ko-KR" dirty="0"/>
              <a:t>(Methodology &amp; Implementation)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100080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F2F40C28-F832-41FB-88BF-D08DA8CC9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818971"/>
            <a:ext cx="8402035" cy="561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학습 및 검증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(Training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Evaluation)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병합 데이터셋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(DAWN+ACDC Merged)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 학습</a:t>
            </a: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학습 환경 세팅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(Google </a:t>
            </a:r>
            <a:r>
              <a:rPr lang="en-US" altLang="ko-KR" sz="1400" kern="0" dirty="0" err="1">
                <a:solidFill>
                  <a:schemeClr val="tx1"/>
                </a:solidFill>
                <a:latin typeface="+mn-ea"/>
                <a:ea typeface="+mn-ea"/>
              </a:rPr>
              <a:t>Colab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  <a:hlinkClick r:id="rId3"/>
              </a:rPr>
              <a:t>https://github.com/ultralytics/ultralytics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학습 시 사용할 모델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Base weight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yolov8l.pt / yolov8x.pt</a:t>
            </a: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데이터 분리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(Data split)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F33002A-7376-4500-81A8-9525E78E1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844" y="2168986"/>
            <a:ext cx="5869013" cy="189002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4DCAF21-C13B-44A0-9750-EB82CFFF9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81" y="4822598"/>
            <a:ext cx="6883637" cy="1561443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DC1A8F9D-B132-42A3-8737-4C3C64350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</p:spPr>
        <p:txBody>
          <a:bodyPr/>
          <a:lstStyle/>
          <a:p>
            <a:r>
              <a:rPr lang="ko-KR" altLang="en-US" dirty="0"/>
              <a:t>방법 및 구현 </a:t>
            </a:r>
            <a:r>
              <a:rPr lang="en-US" altLang="ko-KR" dirty="0"/>
              <a:t>(Methodology &amp; Implementation)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777824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F2F40C28-F832-41FB-88BF-D08DA8CC9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818971"/>
            <a:ext cx="8402035" cy="3591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학습 및 검증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(Training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Evaluation)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Block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Diagram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endParaRPr lang="ko-KR" altLang="en-US" sz="15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C13A88-5736-44BD-BE4E-10C37834A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985" y="1538978"/>
            <a:ext cx="3060034" cy="453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671742-CC8F-4520-AD15-55B77C7D18C4}"/>
              </a:ext>
            </a:extLst>
          </p:cNvPr>
          <p:cNvSpPr txBox="1"/>
          <p:nvPr/>
        </p:nvSpPr>
        <p:spPr>
          <a:xfrm>
            <a:off x="2951982" y="6075209"/>
            <a:ext cx="3600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Object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Detection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Model using the YOLOv8 algorithm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12BD9B5-13EE-4FCD-9375-F244F9843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</p:spPr>
        <p:txBody>
          <a:bodyPr/>
          <a:lstStyle/>
          <a:p>
            <a:r>
              <a:rPr lang="ko-KR" altLang="en-US" dirty="0"/>
              <a:t>방법 및 구현 </a:t>
            </a:r>
            <a:r>
              <a:rPr lang="en-US" altLang="ko-KR" dirty="0"/>
              <a:t>(Methodology &amp; Implementation)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788969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1C09B66-8D2D-478B-B1DA-9D8E1B91C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818971"/>
            <a:ext cx="8492036" cy="545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kern="0" dirty="0">
                <a:solidFill>
                  <a:schemeClr val="accent1">
                    <a:lumMod val="75000"/>
                  </a:schemeClr>
                </a:solidFill>
              </a:rPr>
              <a:t>최고의 가중치 및 데이터 증강 버전 선택</a:t>
            </a:r>
            <a:r>
              <a:rPr lang="en-US" altLang="ko-KR" kern="0" dirty="0">
                <a:solidFill>
                  <a:schemeClr val="accent1">
                    <a:lumMod val="75000"/>
                  </a:schemeClr>
                </a:solidFill>
              </a:rPr>
              <a:t>(Choosing the Best Weights and Augmentation)</a:t>
            </a: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실험 목표</a:t>
            </a: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실험 방법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방법론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(Methodology)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에 따라 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DAWN, ACDC 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데이터셋 및 통합 데이터셋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(MERGED)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에 대해 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data split(train : validation : test = 70% : 20% : 10%)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및 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가지 병합 데이터 버전에 대한 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pretrained weight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에 따른 학습 및 검증 수행</a:t>
            </a:r>
            <a:endParaRPr lang="en-US" altLang="ko-KR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626400" marR="0" lvl="1" indent="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   </a:t>
            </a: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9">
            <a:extLst>
              <a:ext uri="{FF2B5EF4-FFF2-40B4-BE49-F238E27FC236}">
                <a16:creationId xmlns:a16="http://schemas.microsoft.com/office/drawing/2014/main" id="{7BBF7B1E-678D-4CA6-9B8B-135771DA7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978202"/>
              </p:ext>
            </p:extLst>
          </p:nvPr>
        </p:nvGraphicFramePr>
        <p:xfrm>
          <a:off x="971958" y="1537898"/>
          <a:ext cx="7650085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14">
                  <a:extLst>
                    <a:ext uri="{9D8B030D-6E8A-4147-A177-3AD203B41FA5}">
                      <a16:colId xmlns:a16="http://schemas.microsoft.com/office/drawing/2014/main" val="1662365329"/>
                    </a:ext>
                  </a:extLst>
                </a:gridCol>
                <a:gridCol w="2700028">
                  <a:extLst>
                    <a:ext uri="{9D8B030D-6E8A-4147-A177-3AD203B41FA5}">
                      <a16:colId xmlns:a16="http://schemas.microsoft.com/office/drawing/2014/main" val="1908538321"/>
                    </a:ext>
                  </a:extLst>
                </a:gridCol>
                <a:gridCol w="3870043">
                  <a:extLst>
                    <a:ext uri="{9D8B030D-6E8A-4147-A177-3AD203B41FA5}">
                      <a16:colId xmlns:a16="http://schemas.microsoft.com/office/drawing/2014/main" val="1282198497"/>
                    </a:ext>
                  </a:extLst>
                </a:gridCol>
              </a:tblGrid>
              <a:tr h="2478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지표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방법 및 기준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836174"/>
                  </a:ext>
                </a:extLst>
              </a:tr>
              <a:tr h="376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mAP@50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>
                          <a:latin typeface="+mn-ea"/>
                          <a:ea typeface="+mn-ea"/>
                        </a:rPr>
                        <a:t>IoU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≥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0.5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일 때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 True Positive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로 인정한 평균 정밀도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예측된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Bounding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Box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가 실제 객체와 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50% 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이상 겹치면 정답으로 간주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2624847"/>
                  </a:ext>
                </a:extLst>
              </a:tr>
              <a:tr h="474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mAP@50-95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>
                          <a:latin typeface="+mn-ea"/>
                          <a:ea typeface="+mn-ea"/>
                        </a:rPr>
                        <a:t>IoU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 0.5~0.95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구간 평균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더 정밀한 평가를 위해 </a:t>
                      </a:r>
                      <a:r>
                        <a:rPr lang="en-US" altLang="ko-KR" sz="1100" b="0" dirty="0" err="1">
                          <a:latin typeface="+mn-ea"/>
                          <a:ea typeface="+mn-ea"/>
                        </a:rPr>
                        <a:t>IoU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dirty="0" err="1">
                          <a:latin typeface="+mn-ea"/>
                          <a:ea typeface="+mn-ea"/>
                        </a:rPr>
                        <a:t>임계값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(threshold)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을 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0.50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0.95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까지 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0.05 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간격으로 바꿔가며 총 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개의 </a:t>
                      </a:r>
                      <a:r>
                        <a:rPr lang="en-US" altLang="ko-KR" sz="1100" b="0" dirty="0" err="1">
                          <a:latin typeface="+mn-ea"/>
                          <a:ea typeface="+mn-ea"/>
                        </a:rPr>
                        <a:t>IoU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값에 대해 </a:t>
                      </a:r>
                      <a:r>
                        <a:rPr lang="en-US" altLang="ko-KR" sz="1100" b="0" dirty="0" err="1">
                          <a:latin typeface="+mn-ea"/>
                          <a:ea typeface="+mn-ea"/>
                        </a:rPr>
                        <a:t>mAP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 계산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 :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mAP@50, mAP@55, ..., mAP@95 → 10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개 평균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7530806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5F0572-959A-4E3A-A203-7814C2553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577064"/>
              </p:ext>
            </p:extLst>
          </p:nvPr>
        </p:nvGraphicFramePr>
        <p:xfrm>
          <a:off x="788562" y="4026031"/>
          <a:ext cx="8016876" cy="8165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68073">
                  <a:extLst>
                    <a:ext uri="{9D8B030D-6E8A-4147-A177-3AD203B41FA5}">
                      <a16:colId xmlns:a16="http://schemas.microsoft.com/office/drawing/2014/main" val="1925693420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2152454049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845415049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3394930380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1206489973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349431415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4090411344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3896645783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527759138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1808988617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55087288"/>
                    </a:ext>
                  </a:extLst>
                </a:gridCol>
                <a:gridCol w="668073">
                  <a:extLst>
                    <a:ext uri="{9D8B030D-6E8A-4147-A177-3AD203B41FA5}">
                      <a16:colId xmlns:a16="http://schemas.microsoft.com/office/drawing/2014/main" val="3579856609"/>
                    </a:ext>
                  </a:extLst>
                </a:gridCol>
              </a:tblGrid>
              <a:tr h="204133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DAWN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ACDC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MERGED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417133"/>
                  </a:ext>
                </a:extLst>
              </a:tr>
              <a:tr h="2041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train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validation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train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validation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train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validation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extLst>
                  <a:ext uri="{0D108BD9-81ED-4DB2-BD59-A6C34878D82A}">
                    <a16:rowId xmlns:a16="http://schemas.microsoft.com/office/drawing/2014/main" val="733454906"/>
                  </a:ext>
                </a:extLst>
              </a:tr>
              <a:tr h="2041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700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203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1,003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2,715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770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383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3,868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3,415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973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483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4,871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extLst>
                  <a:ext uri="{0D108BD9-81ED-4DB2-BD59-A6C34878D82A}">
                    <a16:rowId xmlns:a16="http://schemas.microsoft.com/office/drawing/2014/main" val="4148465085"/>
                  </a:ext>
                </a:extLst>
              </a:tr>
              <a:tr h="2041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70%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70%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70%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100%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79" marR="9279" marT="9279" marB="0" anchor="ctr"/>
                </a:tc>
                <a:extLst>
                  <a:ext uri="{0D108BD9-81ED-4DB2-BD59-A6C34878D82A}">
                    <a16:rowId xmlns:a16="http://schemas.microsoft.com/office/drawing/2014/main" val="4216623825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C6CCD16-EB4F-435A-A5A5-DF729EF56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041780"/>
              </p:ext>
            </p:extLst>
          </p:nvPr>
        </p:nvGraphicFramePr>
        <p:xfrm>
          <a:off x="791012" y="4907122"/>
          <a:ext cx="8016876" cy="13311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30963">
                  <a:extLst>
                    <a:ext uri="{9D8B030D-6E8A-4147-A177-3AD203B41FA5}">
                      <a16:colId xmlns:a16="http://schemas.microsoft.com/office/drawing/2014/main" val="43467155"/>
                    </a:ext>
                  </a:extLst>
                </a:gridCol>
                <a:gridCol w="1350015">
                  <a:extLst>
                    <a:ext uri="{9D8B030D-6E8A-4147-A177-3AD203B41FA5}">
                      <a16:colId xmlns:a16="http://schemas.microsoft.com/office/drawing/2014/main" val="2635789233"/>
                    </a:ext>
                  </a:extLst>
                </a:gridCol>
                <a:gridCol w="720008">
                  <a:extLst>
                    <a:ext uri="{9D8B030D-6E8A-4147-A177-3AD203B41FA5}">
                      <a16:colId xmlns:a16="http://schemas.microsoft.com/office/drawing/2014/main" val="2342148663"/>
                    </a:ext>
                  </a:extLst>
                </a:gridCol>
                <a:gridCol w="990011">
                  <a:extLst>
                    <a:ext uri="{9D8B030D-6E8A-4147-A177-3AD203B41FA5}">
                      <a16:colId xmlns:a16="http://schemas.microsoft.com/office/drawing/2014/main" val="4206384404"/>
                    </a:ext>
                  </a:extLst>
                </a:gridCol>
                <a:gridCol w="1530017">
                  <a:extLst>
                    <a:ext uri="{9D8B030D-6E8A-4147-A177-3AD203B41FA5}">
                      <a16:colId xmlns:a16="http://schemas.microsoft.com/office/drawing/2014/main" val="213676125"/>
                    </a:ext>
                  </a:extLst>
                </a:gridCol>
                <a:gridCol w="900010">
                  <a:extLst>
                    <a:ext uri="{9D8B030D-6E8A-4147-A177-3AD203B41FA5}">
                      <a16:colId xmlns:a16="http://schemas.microsoft.com/office/drawing/2014/main" val="2311458609"/>
                    </a:ext>
                  </a:extLst>
                </a:gridCol>
                <a:gridCol w="995852">
                  <a:extLst>
                    <a:ext uri="{9D8B030D-6E8A-4147-A177-3AD203B41FA5}">
                      <a16:colId xmlns:a16="http://schemas.microsoft.com/office/drawing/2014/main" val="4116421006"/>
                    </a:ext>
                  </a:extLst>
                </a:gridCol>
              </a:tblGrid>
              <a:tr h="166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Weights Trained 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>
                    <a:solidFill>
                      <a:srgbClr val="00B0F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Weights Evaluated 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773542"/>
                  </a:ext>
                </a:extLst>
              </a:tr>
              <a:tr h="332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Weight Trained on Version No.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데이터셋 버전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Input Images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Base Weights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Size of Images during Training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Approximate Training Time for the MERGED Dataset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Size of Validation Images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Size of Test Images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1265783433"/>
                  </a:ext>
                </a:extLst>
              </a:tr>
              <a:tr h="166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V1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Raw images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yolov8x.pt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640*640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4h (32 epochs)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Raw images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Raw images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3883333261"/>
                  </a:ext>
                </a:extLst>
              </a:tr>
              <a:tr h="166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V2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640*640 (augmented)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yolov8l.pt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640*640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5h (32 epochs)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640*640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640*640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277019644"/>
                  </a:ext>
                </a:extLst>
              </a:tr>
              <a:tr h="166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V3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640*640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yolov8l.pt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640*640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2h (32 epochs)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640*640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640*640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3760961175"/>
                  </a:ext>
                </a:extLst>
              </a:tr>
              <a:tr h="166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V4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1280*1280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yolov8x.pt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640*640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3.5h (32 epochs)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1280*1280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1280*1280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2856734382"/>
                  </a:ext>
                </a:extLst>
              </a:tr>
              <a:tr h="1663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V5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1280*1280 (augmented)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yolov8x.pt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640*640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4.5h (16 epochs)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1280*1280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1280*1280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2449849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82228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27D1FDD-BA27-4206-B236-3B3BB859D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760765"/>
            <a:ext cx="8492036" cy="5353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kern="0" dirty="0">
                <a:solidFill>
                  <a:schemeClr val="accent1">
                    <a:lumMod val="75000"/>
                  </a:schemeClr>
                </a:solidFill>
              </a:rPr>
              <a:t>최고의 가중치 및 데이터 증강 버전 선택</a:t>
            </a:r>
            <a:r>
              <a:rPr lang="en-US" altLang="ko-KR" kern="0" dirty="0">
                <a:solidFill>
                  <a:schemeClr val="accent1">
                    <a:lumMod val="75000"/>
                  </a:schemeClr>
                </a:solidFill>
              </a:rPr>
              <a:t>(Choosing the Best Weights and Augmentation)</a:t>
            </a: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YOLOv8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pretrained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weight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종류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COCO 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Dataset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으로 사전 학습되어 있어 기본 </a:t>
            </a:r>
            <a:r>
              <a: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Object Detection 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기능 탑재</a:t>
            </a:r>
            <a:endParaRPr lang="en-US" altLang="ko-KR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가중치를 기초로 </a:t>
            </a:r>
            <a:r>
              <a:rPr kumimoji="0" lang="en-US" altLang="ko-K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transfer learning </a:t>
            </a:r>
            <a:r>
              <a: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수행 </a:t>
            </a:r>
            <a:r>
              <a:rPr kumimoji="0" lang="en-US" altLang="ko-K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lang="ko-KR" altLang="en-US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병</a:t>
            </a:r>
            <a:r>
              <a: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합 데이터셋에 대해 </a:t>
            </a:r>
            <a:r>
              <a:rPr kumimoji="0" lang="en-US" altLang="ko-K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validation, test </a:t>
            </a:r>
            <a:r>
              <a: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수행</a:t>
            </a:r>
            <a:endParaRPr kumimoji="0" lang="en-US" altLang="ko-KR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11" name="표 4">
            <a:extLst>
              <a:ext uri="{FF2B5EF4-FFF2-40B4-BE49-F238E27FC236}">
                <a16:creationId xmlns:a16="http://schemas.microsoft.com/office/drawing/2014/main" id="{B707319B-32E2-4299-A5BA-0713DDBAD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660658"/>
              </p:ext>
            </p:extLst>
          </p:nvPr>
        </p:nvGraphicFramePr>
        <p:xfrm>
          <a:off x="871184" y="1493270"/>
          <a:ext cx="6631683" cy="16657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1619">
                  <a:extLst>
                    <a:ext uri="{9D8B030D-6E8A-4147-A177-3AD203B41FA5}">
                      <a16:colId xmlns:a16="http://schemas.microsoft.com/office/drawing/2014/main" val="522989009"/>
                    </a:ext>
                  </a:extLst>
                </a:gridCol>
                <a:gridCol w="900010">
                  <a:extLst>
                    <a:ext uri="{9D8B030D-6E8A-4147-A177-3AD203B41FA5}">
                      <a16:colId xmlns:a16="http://schemas.microsoft.com/office/drawing/2014/main" val="2328961405"/>
                    </a:ext>
                  </a:extLst>
                </a:gridCol>
                <a:gridCol w="810009">
                  <a:extLst>
                    <a:ext uri="{9D8B030D-6E8A-4147-A177-3AD203B41FA5}">
                      <a16:colId xmlns:a16="http://schemas.microsoft.com/office/drawing/2014/main" val="1793899810"/>
                    </a:ext>
                  </a:extLst>
                </a:gridCol>
                <a:gridCol w="990011">
                  <a:extLst>
                    <a:ext uri="{9D8B030D-6E8A-4147-A177-3AD203B41FA5}">
                      <a16:colId xmlns:a16="http://schemas.microsoft.com/office/drawing/2014/main" val="3467565606"/>
                    </a:ext>
                  </a:extLst>
                </a:gridCol>
                <a:gridCol w="900010">
                  <a:extLst>
                    <a:ext uri="{9D8B030D-6E8A-4147-A177-3AD203B41FA5}">
                      <a16:colId xmlns:a16="http://schemas.microsoft.com/office/drawing/2014/main" val="3996311700"/>
                    </a:ext>
                  </a:extLst>
                </a:gridCol>
                <a:gridCol w="810009">
                  <a:extLst>
                    <a:ext uri="{9D8B030D-6E8A-4147-A177-3AD203B41FA5}">
                      <a16:colId xmlns:a16="http://schemas.microsoft.com/office/drawing/2014/main" val="1796015162"/>
                    </a:ext>
                  </a:extLst>
                </a:gridCol>
                <a:gridCol w="1350015">
                  <a:extLst>
                    <a:ext uri="{9D8B030D-6E8A-4147-A177-3AD203B41FA5}">
                      <a16:colId xmlns:a16="http://schemas.microsoft.com/office/drawing/2014/main" val="1854306035"/>
                    </a:ext>
                  </a:extLst>
                </a:gridCol>
              </a:tblGrid>
              <a:tr h="2776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가중치 계수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모델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의미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파라미터 수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속도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정확도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적용 데이터셋 버전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843900"/>
                  </a:ext>
                </a:extLst>
              </a:tr>
              <a:tr h="277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Yolov8n.pt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Nano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아주 작음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매우 빠름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낮음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N/A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553365"/>
                  </a:ext>
                </a:extLst>
              </a:tr>
              <a:tr h="277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Yolov8s.pt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Small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작음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빠름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중간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N/A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433998"/>
                  </a:ext>
                </a:extLst>
              </a:tr>
              <a:tr h="277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Yolov8m.pt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Medium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중간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보통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보통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N/A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167816"/>
                  </a:ext>
                </a:extLst>
              </a:tr>
              <a:tr h="277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Yolov8l.pt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Large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큼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느림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높음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V2, V3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387077"/>
                  </a:ext>
                </a:extLst>
              </a:tr>
              <a:tr h="277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Yolov8x.pt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Extra-large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매우 큼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느림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매우 높음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V1, V4, V5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9161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2EE57A9-9EAA-4AF3-A16E-7BEFDD922239}"/>
              </a:ext>
            </a:extLst>
          </p:cNvPr>
          <p:cNvSpPr txBox="1"/>
          <p:nvPr/>
        </p:nvSpPr>
        <p:spPr>
          <a:xfrm>
            <a:off x="7430477" y="2596097"/>
            <a:ext cx="2001577" cy="243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900" dirty="0">
                <a:solidFill>
                  <a:srgbClr val="00B0F0"/>
                </a:solidFill>
              </a:rPr>
              <a:t>640*640, 640*640(augmented)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06AF10-7571-448C-AB8D-1B8DCD2B180D}"/>
              </a:ext>
            </a:extLst>
          </p:cNvPr>
          <p:cNvSpPr txBox="1"/>
          <p:nvPr/>
        </p:nvSpPr>
        <p:spPr>
          <a:xfrm>
            <a:off x="7445951" y="2827800"/>
            <a:ext cx="1553711" cy="409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900" dirty="0">
                <a:solidFill>
                  <a:srgbClr val="00B0F0"/>
                </a:solidFill>
              </a:rPr>
              <a:t>Raw image, 1280*1280, 1280*1280(augmented)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9762E0E-8B1A-4270-BB08-4F0E5A15B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55" y="3833380"/>
            <a:ext cx="2810118" cy="21707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4F3C7AE-99AF-4A2B-9F78-959FF5E2C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290" y="3833380"/>
            <a:ext cx="2805843" cy="21674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AB06EA-EFAE-4904-B1B9-414421C5DF92}"/>
              </a:ext>
            </a:extLst>
          </p:cNvPr>
          <p:cNvSpPr txBox="1"/>
          <p:nvPr/>
        </p:nvSpPr>
        <p:spPr>
          <a:xfrm>
            <a:off x="729368" y="5909930"/>
            <a:ext cx="2690099" cy="4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MERGED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: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Validation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image</a:t>
            </a:r>
            <a:r>
              <a:rPr lang="ko-KR" altLang="en-US" sz="900" dirty="0">
                <a:solidFill>
                  <a:schemeClr val="tx1"/>
                </a:solidFill>
              </a:rPr>
              <a:t>에 대한 </a:t>
            </a:r>
            <a:r>
              <a:rPr lang="ko-KR" altLang="en-US" sz="900" dirty="0" err="1">
                <a:solidFill>
                  <a:schemeClr val="tx1"/>
                </a:solidFill>
              </a:rPr>
              <a:t>모델별</a:t>
            </a:r>
            <a:r>
              <a:rPr lang="ko-KR" altLang="en-US" sz="900" dirty="0">
                <a:solidFill>
                  <a:schemeClr val="tx1"/>
                </a:solidFill>
              </a:rPr>
              <a:t> 성능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: l, x </a:t>
            </a:r>
            <a:r>
              <a:rPr lang="ko-KR" altLang="en-US" sz="900" b="1" dirty="0">
                <a:solidFill>
                  <a:schemeClr val="tx1"/>
                </a:solidFill>
              </a:rPr>
              <a:t>성능 높음</a:t>
            </a:r>
            <a:r>
              <a:rPr lang="en-US" altLang="ko-KR" sz="900" b="1" dirty="0">
                <a:solidFill>
                  <a:schemeClr val="tx1"/>
                </a:solidFill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</a:rPr>
              <a:t>학습 전 </a:t>
            </a:r>
            <a:r>
              <a:rPr lang="en-US" altLang="ko-KR" sz="900" b="1" dirty="0">
                <a:solidFill>
                  <a:schemeClr val="tx1"/>
                </a:solidFill>
              </a:rPr>
              <a:t>base weight </a:t>
            </a:r>
            <a:r>
              <a:rPr lang="ko-KR" altLang="en-US" sz="900" b="1" dirty="0">
                <a:solidFill>
                  <a:schemeClr val="tx1"/>
                </a:solidFill>
              </a:rPr>
              <a:t>모델</a:t>
            </a:r>
            <a:r>
              <a:rPr lang="en-US" altLang="ko-KR" sz="9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482D98-55C0-487E-8AC4-20F0C079751B}"/>
              </a:ext>
            </a:extLst>
          </p:cNvPr>
          <p:cNvSpPr txBox="1"/>
          <p:nvPr/>
        </p:nvSpPr>
        <p:spPr>
          <a:xfrm>
            <a:off x="3746456" y="5909930"/>
            <a:ext cx="2421379" cy="4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MERGED : Test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image</a:t>
            </a:r>
            <a:r>
              <a:rPr lang="ko-KR" altLang="en-US" sz="900" dirty="0">
                <a:solidFill>
                  <a:schemeClr val="tx1"/>
                </a:solidFill>
              </a:rPr>
              <a:t>에 대한 </a:t>
            </a:r>
            <a:r>
              <a:rPr lang="ko-KR" altLang="en-US" sz="900" dirty="0" err="1">
                <a:solidFill>
                  <a:schemeClr val="tx1"/>
                </a:solidFill>
              </a:rPr>
              <a:t>모델별</a:t>
            </a:r>
            <a:r>
              <a:rPr lang="ko-KR" altLang="en-US" sz="900" dirty="0">
                <a:solidFill>
                  <a:schemeClr val="tx1"/>
                </a:solidFill>
              </a:rPr>
              <a:t> 성능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: l,</a:t>
            </a:r>
            <a:r>
              <a:rPr lang="ko-KR" altLang="en-US" sz="900" b="1" dirty="0">
                <a:solidFill>
                  <a:schemeClr val="tx1"/>
                </a:solidFill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</a:rPr>
              <a:t>x </a:t>
            </a:r>
            <a:r>
              <a:rPr lang="ko-KR" altLang="en-US" sz="900" b="1" dirty="0">
                <a:solidFill>
                  <a:schemeClr val="tx1"/>
                </a:solidFill>
              </a:rPr>
              <a:t>성능 높음</a:t>
            </a:r>
            <a:r>
              <a:rPr lang="en-US" altLang="ko-KR" sz="900" b="1" dirty="0">
                <a:solidFill>
                  <a:schemeClr val="tx1"/>
                </a:solidFill>
              </a:rPr>
              <a:t> (</a:t>
            </a:r>
            <a:r>
              <a:rPr lang="ko-KR" altLang="en-US" sz="900" b="1" dirty="0">
                <a:solidFill>
                  <a:schemeClr val="tx1"/>
                </a:solidFill>
              </a:rPr>
              <a:t>학습 전 </a:t>
            </a:r>
            <a:r>
              <a:rPr lang="en-US" altLang="ko-KR" sz="900" b="1" dirty="0">
                <a:solidFill>
                  <a:schemeClr val="tx1"/>
                </a:solidFill>
              </a:rPr>
              <a:t>base weight </a:t>
            </a:r>
            <a:r>
              <a:rPr lang="ko-KR" altLang="en-US" sz="900" b="1" dirty="0">
                <a:solidFill>
                  <a:schemeClr val="tx1"/>
                </a:solidFill>
              </a:rPr>
              <a:t>모델</a:t>
            </a:r>
            <a:r>
              <a:rPr lang="en-US" altLang="ko-KR" sz="900" b="1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D67AF28-FCC0-4E54-A7B6-4329FB7D1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469" y="3869854"/>
            <a:ext cx="2532043" cy="20505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172EB8F-8D89-44E9-8E76-F237B57C2C8B}"/>
              </a:ext>
            </a:extLst>
          </p:cNvPr>
          <p:cNvSpPr txBox="1"/>
          <p:nvPr/>
        </p:nvSpPr>
        <p:spPr>
          <a:xfrm>
            <a:off x="6541737" y="5892627"/>
            <a:ext cx="2350311" cy="4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ACDC </a:t>
            </a:r>
            <a:r>
              <a:rPr lang="ko-KR" altLang="en-US" sz="900" dirty="0">
                <a:solidFill>
                  <a:schemeClr val="tx1"/>
                </a:solidFill>
              </a:rPr>
              <a:t>데이터 증강 </a:t>
            </a:r>
            <a:r>
              <a:rPr lang="ko-KR" altLang="en-US" sz="900" dirty="0" err="1">
                <a:solidFill>
                  <a:schemeClr val="tx1"/>
                </a:solidFill>
              </a:rPr>
              <a:t>버전별</a:t>
            </a:r>
            <a:r>
              <a:rPr lang="en-US" altLang="ko-KR" sz="900" dirty="0">
                <a:solidFill>
                  <a:schemeClr val="tx1"/>
                </a:solidFill>
              </a:rPr>
              <a:t>(A0~A8)</a:t>
            </a:r>
            <a:r>
              <a:rPr lang="ko-KR" altLang="en-US" sz="900" dirty="0">
                <a:solidFill>
                  <a:schemeClr val="tx1"/>
                </a:solidFill>
              </a:rPr>
              <a:t> 성능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b="1" dirty="0">
                <a:solidFill>
                  <a:schemeClr val="tx1"/>
                </a:solidFill>
              </a:rPr>
              <a:t>: A8(horizontal</a:t>
            </a:r>
            <a:r>
              <a:rPr lang="ko-KR" altLang="en-US" sz="900" b="1" dirty="0">
                <a:solidFill>
                  <a:schemeClr val="tx1"/>
                </a:solidFill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</a:rPr>
              <a:t>flip,</a:t>
            </a:r>
            <a:r>
              <a:rPr lang="ko-KR" altLang="en-US" sz="900" b="1" dirty="0">
                <a:solidFill>
                  <a:schemeClr val="tx1"/>
                </a:solidFill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</a:rPr>
              <a:t>cropping) </a:t>
            </a:r>
            <a:r>
              <a:rPr lang="ko-KR" altLang="en-US" sz="900" b="1" dirty="0">
                <a:solidFill>
                  <a:schemeClr val="tx1"/>
                </a:solidFill>
              </a:rPr>
              <a:t>성능 우수</a:t>
            </a:r>
            <a:endParaRPr lang="en-US" altLang="ko-KR" sz="9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D54D5-277E-4F39-84ED-B2ABFD64CBCD}"/>
              </a:ext>
            </a:extLst>
          </p:cNvPr>
          <p:cNvSpPr txBox="1"/>
          <p:nvPr/>
        </p:nvSpPr>
        <p:spPr>
          <a:xfrm>
            <a:off x="971960" y="4779015"/>
            <a:ext cx="180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DD36BD-A160-4AA6-98E4-B90B53A3E675}"/>
              </a:ext>
            </a:extLst>
          </p:cNvPr>
          <p:cNvSpPr txBox="1"/>
          <p:nvPr/>
        </p:nvSpPr>
        <p:spPr>
          <a:xfrm>
            <a:off x="1447771" y="4605452"/>
            <a:ext cx="180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s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3D67C1-ACA9-4603-89ED-BB7F3ACAC920}"/>
              </a:ext>
            </a:extLst>
          </p:cNvPr>
          <p:cNvSpPr txBox="1"/>
          <p:nvPr/>
        </p:nvSpPr>
        <p:spPr>
          <a:xfrm>
            <a:off x="1951485" y="4475400"/>
            <a:ext cx="180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m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B7C304-3CD7-4C71-9AE6-C5E455E6530A}"/>
              </a:ext>
            </a:extLst>
          </p:cNvPr>
          <p:cNvSpPr txBox="1"/>
          <p:nvPr/>
        </p:nvSpPr>
        <p:spPr>
          <a:xfrm>
            <a:off x="2470032" y="4421965"/>
            <a:ext cx="180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l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1FC947-DD9C-4ADB-93AE-299DBBFD3A1F}"/>
              </a:ext>
            </a:extLst>
          </p:cNvPr>
          <p:cNvSpPr txBox="1"/>
          <p:nvPr/>
        </p:nvSpPr>
        <p:spPr>
          <a:xfrm>
            <a:off x="2901052" y="4365756"/>
            <a:ext cx="180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x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85AC00-1FF2-4E2E-A80F-1369E170703F}"/>
              </a:ext>
            </a:extLst>
          </p:cNvPr>
          <p:cNvSpPr txBox="1"/>
          <p:nvPr/>
        </p:nvSpPr>
        <p:spPr>
          <a:xfrm>
            <a:off x="3836562" y="4794007"/>
            <a:ext cx="180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82E847-8787-4E11-B0E1-C35569D3C19F}"/>
              </a:ext>
            </a:extLst>
          </p:cNvPr>
          <p:cNvSpPr txBox="1"/>
          <p:nvPr/>
        </p:nvSpPr>
        <p:spPr>
          <a:xfrm>
            <a:off x="4339786" y="4590965"/>
            <a:ext cx="180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s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332FB6-5C7E-439A-A809-5DA5A19EE8A6}"/>
              </a:ext>
            </a:extLst>
          </p:cNvPr>
          <p:cNvSpPr txBox="1"/>
          <p:nvPr/>
        </p:nvSpPr>
        <p:spPr>
          <a:xfrm>
            <a:off x="4807494" y="4475399"/>
            <a:ext cx="180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m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E0EF02-86E5-4371-8640-237547975F4C}"/>
              </a:ext>
            </a:extLst>
          </p:cNvPr>
          <p:cNvSpPr txBox="1"/>
          <p:nvPr/>
        </p:nvSpPr>
        <p:spPr>
          <a:xfrm>
            <a:off x="5301022" y="4412404"/>
            <a:ext cx="180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l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7D2D97-99C8-46BD-B7DC-8CC80B534C4A}"/>
              </a:ext>
            </a:extLst>
          </p:cNvPr>
          <p:cNvSpPr txBox="1"/>
          <p:nvPr/>
        </p:nvSpPr>
        <p:spPr>
          <a:xfrm>
            <a:off x="5783347" y="4419011"/>
            <a:ext cx="180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x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34062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795168"/>
            <a:ext cx="8492036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PC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환경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40000" indent="-288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Windows 11 Pro, Intel Core i7-14700, 32GB RAM</a:t>
            </a:r>
          </a:p>
          <a:p>
            <a:pPr marL="540000" indent="-288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Nvidia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n-ea"/>
                <a:ea typeface="+mn-ea"/>
              </a:rPr>
              <a:t>Geforce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 RTX4060, CUDA 10.2, Python-3.9.21, torch-2.60+cu118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학습 세팅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altLang="ko-KR" sz="1500" b="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altLang="ko-KR" sz="1500" b="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학습 이미지 데이터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40000" indent="-288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graphicFrame>
        <p:nvGraphicFramePr>
          <p:cNvPr id="17" name="표 17">
            <a:extLst>
              <a:ext uri="{FF2B5EF4-FFF2-40B4-BE49-F238E27FC236}">
                <a16:creationId xmlns:a16="http://schemas.microsoft.com/office/drawing/2014/main" id="{BD77DA74-43DF-4D75-9AB0-4529F8C20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662838"/>
              </p:ext>
            </p:extLst>
          </p:nvPr>
        </p:nvGraphicFramePr>
        <p:xfrm>
          <a:off x="1524003" y="2078985"/>
          <a:ext cx="6096000" cy="22931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9744007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41581745"/>
                    </a:ext>
                  </a:extLst>
                </a:gridCol>
              </a:tblGrid>
              <a:tr h="3275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Hyper-Parameter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Setting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170057"/>
                  </a:ext>
                </a:extLst>
              </a:tr>
              <a:tr h="3275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model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yolov8l.pt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416321"/>
                  </a:ext>
                </a:extLst>
              </a:tr>
              <a:tr h="3275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epochs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50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788138"/>
                  </a:ext>
                </a:extLst>
              </a:tr>
              <a:tr h="3275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batch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16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105776"/>
                  </a:ext>
                </a:extLst>
              </a:tr>
              <a:tr h="3275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lr0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356171"/>
                  </a:ext>
                </a:extLst>
              </a:tr>
              <a:tr h="3275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weight_decay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0.0005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435021"/>
                  </a:ext>
                </a:extLst>
              </a:tr>
              <a:tr h="3275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optimizer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auto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 </a:t>
                      </a:r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AdamW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8053060"/>
                  </a:ext>
                </a:extLst>
              </a:tr>
            </a:tbl>
          </a:graphicData>
        </a:graphic>
      </p:graphicFrame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087588E4-0ED9-4805-B6EB-2F20DBD74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948038"/>
              </p:ext>
            </p:extLst>
          </p:nvPr>
        </p:nvGraphicFramePr>
        <p:xfrm>
          <a:off x="1524000" y="5133308"/>
          <a:ext cx="6096003" cy="11117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4507">
                  <a:extLst>
                    <a:ext uri="{9D8B030D-6E8A-4147-A177-3AD203B41FA5}">
                      <a16:colId xmlns:a16="http://schemas.microsoft.com/office/drawing/2014/main" val="2222940400"/>
                    </a:ext>
                  </a:extLst>
                </a:gridCol>
                <a:gridCol w="1170013">
                  <a:extLst>
                    <a:ext uri="{9D8B030D-6E8A-4147-A177-3AD203B41FA5}">
                      <a16:colId xmlns:a16="http://schemas.microsoft.com/office/drawing/2014/main" val="1104604663"/>
                    </a:ext>
                  </a:extLst>
                </a:gridCol>
                <a:gridCol w="1440016">
                  <a:extLst>
                    <a:ext uri="{9D8B030D-6E8A-4147-A177-3AD203B41FA5}">
                      <a16:colId xmlns:a16="http://schemas.microsoft.com/office/drawing/2014/main" val="416359226"/>
                    </a:ext>
                  </a:extLst>
                </a:gridCol>
                <a:gridCol w="990011">
                  <a:extLst>
                    <a:ext uri="{9D8B030D-6E8A-4147-A177-3AD203B41FA5}">
                      <a16:colId xmlns:a16="http://schemas.microsoft.com/office/drawing/2014/main" val="4187068517"/>
                    </a:ext>
                  </a:extLst>
                </a:gridCol>
                <a:gridCol w="1161456">
                  <a:extLst>
                    <a:ext uri="{9D8B030D-6E8A-4147-A177-3AD203B41FA5}">
                      <a16:colId xmlns:a16="http://schemas.microsoft.com/office/drawing/2014/main" val="2712199795"/>
                    </a:ext>
                  </a:extLst>
                </a:gridCol>
              </a:tblGrid>
              <a:tr h="2779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Dataset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Amount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Image size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resizing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augmentation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517545"/>
                  </a:ext>
                </a:extLst>
              </a:tr>
              <a:tr h="2779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AI-Hub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10,000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1920*1080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017581"/>
                  </a:ext>
                </a:extLst>
              </a:tr>
              <a:tr h="2779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DAWN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1,026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vary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1619427"/>
                  </a:ext>
                </a:extLst>
              </a:tr>
              <a:tr h="2779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ACDC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3,151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1920*1080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5797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80288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795168"/>
            <a:ext cx="8492036" cy="5432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AI-Hub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오픈소스 데이터셋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[8]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을 활용한 학습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검증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테스트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80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b="0" kern="0" dirty="0">
                <a:solidFill>
                  <a:schemeClr val="tx1"/>
                </a:solidFill>
                <a:latin typeface="+mn-ea"/>
                <a:ea typeface="+mn-ea"/>
              </a:rPr>
              <a:t>승용 자율주행차 악천후 데이터</a:t>
            </a:r>
            <a:r>
              <a:rPr lang="en-US" altLang="ko-KR" sz="1500" b="0" kern="0" dirty="0">
                <a:solidFill>
                  <a:schemeClr val="tx1"/>
                </a:solidFill>
                <a:latin typeface="+mn-ea"/>
                <a:ea typeface="+mn-ea"/>
              </a:rPr>
              <a:t>(2022)</a:t>
            </a: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front,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500" kern="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front_left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,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500" kern="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front_right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,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500" kern="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rear_left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sz="1500" kern="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rear_right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의 카메라 이미지 중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front 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카메라 이미지만 사용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front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카메라 이미지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64,800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장 </a:t>
            </a:r>
            <a:r>
              <a:rPr lang="ko-KR" altLang="en-US" sz="15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5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shuffle → 10,000</a:t>
            </a:r>
            <a:r>
              <a:rPr lang="ko-KR" altLang="en-US" sz="15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장 랜덤 추출</a:t>
            </a:r>
            <a:endParaRPr lang="en-US" altLang="ko-KR" sz="15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dataset_01, dataset_02, merged 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데이터셋 </a:t>
            </a:r>
            <a:r>
              <a:rPr lang="en-US" altLang="ko-KR" sz="15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train, </a:t>
            </a:r>
            <a:r>
              <a:rPr lang="en-US" altLang="ko-KR" sz="1500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altLang="ko-KR" sz="15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test (7:2:1)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label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데이터 변환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: JSON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txt (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클래스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ID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는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COCO dataset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 형식으로 매핑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)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2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2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데이터셋 분할 및 </a:t>
            </a: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YOLOv8 </a:t>
            </a: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모델</a:t>
            </a: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2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2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2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2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2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DAB1182-4484-401E-815E-A1180804A01D}"/>
              </a:ext>
            </a:extLst>
          </p:cNvPr>
          <p:cNvSpPr/>
          <p:nvPr/>
        </p:nvSpPr>
        <p:spPr bwMode="auto">
          <a:xfrm>
            <a:off x="3852293" y="3519001"/>
            <a:ext cx="1225673" cy="3924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AI-Hub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(FC 64,800 images)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F1F5D07-8E32-45F6-AC6F-D5306D8901F4}"/>
              </a:ext>
            </a:extLst>
          </p:cNvPr>
          <p:cNvSpPr/>
          <p:nvPr/>
        </p:nvSpPr>
        <p:spPr bwMode="auto">
          <a:xfrm>
            <a:off x="1658807" y="5168384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 err="1">
                <a:solidFill>
                  <a:schemeClr val="tx1"/>
                </a:solidFill>
                <a:latin typeface="Arial" charset="0"/>
              </a:rPr>
              <a:t>v</a:t>
            </a:r>
            <a:r>
              <a:rPr kumimoji="0" lang="en-US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al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600" dirty="0">
                <a:solidFill>
                  <a:schemeClr val="tx1"/>
                </a:solidFill>
                <a:latin typeface="Arial" charset="0"/>
              </a:rPr>
              <a:t>(1,000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C8D88B-0DEC-43EE-BCC4-4926767F98AE}"/>
              </a:ext>
            </a:extLst>
          </p:cNvPr>
          <p:cNvSpPr/>
          <p:nvPr/>
        </p:nvSpPr>
        <p:spPr bwMode="auto">
          <a:xfrm>
            <a:off x="971960" y="5168383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train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(3,500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E754753-A1A1-4D58-AE98-5D30223D43DE}"/>
              </a:ext>
            </a:extLst>
          </p:cNvPr>
          <p:cNvSpPr/>
          <p:nvPr/>
        </p:nvSpPr>
        <p:spPr bwMode="auto">
          <a:xfrm>
            <a:off x="2345654" y="5168382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test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(500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C5F007-962B-4E06-A40E-91E1EE95DD07}"/>
              </a:ext>
            </a:extLst>
          </p:cNvPr>
          <p:cNvSpPr/>
          <p:nvPr/>
        </p:nvSpPr>
        <p:spPr bwMode="auto">
          <a:xfrm>
            <a:off x="1658807" y="5849627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best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26BE1B7-EC33-4A7C-8FFC-89B80D8FAF54}"/>
              </a:ext>
            </a:extLst>
          </p:cNvPr>
          <p:cNvSpPr/>
          <p:nvPr/>
        </p:nvSpPr>
        <p:spPr bwMode="auto">
          <a:xfrm>
            <a:off x="971960" y="5849626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y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olov8l.pt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2B8058-46B8-4096-B5A9-187F6D304F2B}"/>
              </a:ext>
            </a:extLst>
          </p:cNvPr>
          <p:cNvSpPr/>
          <p:nvPr/>
        </p:nvSpPr>
        <p:spPr bwMode="auto">
          <a:xfrm>
            <a:off x="2345654" y="5849625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best.pt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39F8E0E-4C5E-4213-9165-664ABE654F0A}"/>
              </a:ext>
            </a:extLst>
          </p:cNvPr>
          <p:cNvSpPr/>
          <p:nvPr/>
        </p:nvSpPr>
        <p:spPr bwMode="auto">
          <a:xfrm>
            <a:off x="6727796" y="5848070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best.pt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6700EB5-C3F6-46F2-95B1-CE65C812A874}"/>
              </a:ext>
            </a:extLst>
          </p:cNvPr>
          <p:cNvSpPr/>
          <p:nvPr/>
        </p:nvSpPr>
        <p:spPr bwMode="auto">
          <a:xfrm>
            <a:off x="6033340" y="5849625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y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olov8l.pt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120D8D-6DE0-4ABB-8666-D47713A31F6D}"/>
              </a:ext>
            </a:extLst>
          </p:cNvPr>
          <p:cNvSpPr/>
          <p:nvPr/>
        </p:nvSpPr>
        <p:spPr bwMode="auto">
          <a:xfrm>
            <a:off x="7407034" y="5849624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best.pt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4A1DE55-9F94-4B12-A67B-FBB88519D1E6}"/>
              </a:ext>
            </a:extLst>
          </p:cNvPr>
          <p:cNvSpPr/>
          <p:nvPr/>
        </p:nvSpPr>
        <p:spPr bwMode="auto">
          <a:xfrm>
            <a:off x="4186762" y="5855276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best.pt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C2BB35F-D971-40A4-A525-47315DCEEDC5}"/>
              </a:ext>
            </a:extLst>
          </p:cNvPr>
          <p:cNvSpPr/>
          <p:nvPr/>
        </p:nvSpPr>
        <p:spPr bwMode="auto">
          <a:xfrm>
            <a:off x="3499915" y="5855275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y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olo</a:t>
            </a: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v8l.pt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90B1A95-34ED-4EB4-A2BA-0293814E8B74}"/>
              </a:ext>
            </a:extLst>
          </p:cNvPr>
          <p:cNvSpPr/>
          <p:nvPr/>
        </p:nvSpPr>
        <p:spPr bwMode="auto">
          <a:xfrm>
            <a:off x="4873609" y="5855274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b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est.pt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05559AD-C4CA-4B9F-8E64-AFCFB9DAE29C}"/>
              </a:ext>
            </a:extLst>
          </p:cNvPr>
          <p:cNvSpPr/>
          <p:nvPr/>
        </p:nvSpPr>
        <p:spPr bwMode="auto">
          <a:xfrm>
            <a:off x="1435494" y="4410554"/>
            <a:ext cx="990011" cy="3924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d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ataset_01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(5,000 images)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B14D224-5D23-4763-84FE-2DFCAA41827F}"/>
              </a:ext>
            </a:extLst>
          </p:cNvPr>
          <p:cNvSpPr/>
          <p:nvPr/>
        </p:nvSpPr>
        <p:spPr bwMode="auto">
          <a:xfrm>
            <a:off x="3970123" y="4410553"/>
            <a:ext cx="990011" cy="3924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d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ataset_02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(5,000 images)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4E3AEC3-5FA1-4656-A328-FAD0C7616B54}"/>
              </a:ext>
            </a:extLst>
          </p:cNvPr>
          <p:cNvSpPr/>
          <p:nvPr/>
        </p:nvSpPr>
        <p:spPr bwMode="auto">
          <a:xfrm>
            <a:off x="6525293" y="4410553"/>
            <a:ext cx="990011" cy="3924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merged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(10,000 images)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3E7F85B-CABD-484E-B18A-08832E931ED7}"/>
              </a:ext>
            </a:extLst>
          </p:cNvPr>
          <p:cNvSpPr/>
          <p:nvPr/>
        </p:nvSpPr>
        <p:spPr bwMode="auto">
          <a:xfrm>
            <a:off x="4186762" y="5168384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 err="1">
                <a:solidFill>
                  <a:schemeClr val="tx1"/>
                </a:solidFill>
                <a:latin typeface="Arial" charset="0"/>
              </a:rPr>
              <a:t>v</a:t>
            </a:r>
            <a:r>
              <a:rPr kumimoji="0" lang="en-US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al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600" dirty="0">
                <a:solidFill>
                  <a:schemeClr val="tx1"/>
                </a:solidFill>
                <a:latin typeface="Arial" charset="0"/>
              </a:rPr>
              <a:t>(1,000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E170970-DFF6-4F4C-AD09-507089C5B0A9}"/>
              </a:ext>
            </a:extLst>
          </p:cNvPr>
          <p:cNvSpPr/>
          <p:nvPr/>
        </p:nvSpPr>
        <p:spPr bwMode="auto">
          <a:xfrm>
            <a:off x="3499915" y="5168383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train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(3,500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6348E89-BF10-41F9-B59C-224E98427315}"/>
              </a:ext>
            </a:extLst>
          </p:cNvPr>
          <p:cNvSpPr/>
          <p:nvPr/>
        </p:nvSpPr>
        <p:spPr bwMode="auto">
          <a:xfrm>
            <a:off x="4873609" y="5168382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test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(500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D83DE30-91C2-4CF6-8EAA-8B22CF7DC8E6}"/>
              </a:ext>
            </a:extLst>
          </p:cNvPr>
          <p:cNvSpPr/>
          <p:nvPr/>
        </p:nvSpPr>
        <p:spPr bwMode="auto">
          <a:xfrm>
            <a:off x="6720187" y="5168384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 err="1">
                <a:solidFill>
                  <a:schemeClr val="tx1"/>
                </a:solidFill>
                <a:latin typeface="Arial" charset="0"/>
              </a:rPr>
              <a:t>v</a:t>
            </a:r>
            <a:r>
              <a:rPr kumimoji="0" lang="en-US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al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600" dirty="0">
                <a:solidFill>
                  <a:schemeClr val="tx1"/>
                </a:solidFill>
                <a:latin typeface="Arial" charset="0"/>
              </a:rPr>
              <a:t>(2,000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8FF0C4F-96E8-4498-86A8-12C8541E6EF3}"/>
              </a:ext>
            </a:extLst>
          </p:cNvPr>
          <p:cNvSpPr/>
          <p:nvPr/>
        </p:nvSpPr>
        <p:spPr bwMode="auto">
          <a:xfrm>
            <a:off x="6033340" y="5168383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train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(7,000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986A0A5-E753-4D98-9980-2D5B0EF6F13E}"/>
              </a:ext>
            </a:extLst>
          </p:cNvPr>
          <p:cNvSpPr/>
          <p:nvPr/>
        </p:nvSpPr>
        <p:spPr bwMode="auto">
          <a:xfrm>
            <a:off x="7407034" y="5168382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test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(1,000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20052F8-97E0-4BF4-B46E-A094F2E1441E}"/>
              </a:ext>
            </a:extLst>
          </p:cNvPr>
          <p:cNvCxnSpPr/>
          <p:nvPr/>
        </p:nvCxnSpPr>
        <p:spPr bwMode="auto">
          <a:xfrm>
            <a:off x="4481999" y="3911404"/>
            <a:ext cx="0" cy="4991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6BD711C2-86A8-4C1F-831E-9087D80A6E26}"/>
              </a:ext>
            </a:extLst>
          </p:cNvPr>
          <p:cNvCxnSpPr/>
          <p:nvPr/>
        </p:nvCxnSpPr>
        <p:spPr bwMode="auto">
          <a:xfrm flipH="1">
            <a:off x="1951310" y="3911404"/>
            <a:ext cx="2530690" cy="4666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BD98118-63FD-4F17-8FCB-5F48F605A9D3}"/>
              </a:ext>
            </a:extLst>
          </p:cNvPr>
          <p:cNvCxnSpPr/>
          <p:nvPr/>
        </p:nvCxnSpPr>
        <p:spPr bwMode="auto">
          <a:xfrm>
            <a:off x="1930500" y="4802956"/>
            <a:ext cx="0" cy="36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C8CD313-6BE7-40B1-AAF3-D86911409326}"/>
              </a:ext>
            </a:extLst>
          </p:cNvPr>
          <p:cNvCxnSpPr>
            <a:stCxn id="48" idx="2"/>
            <a:endCxn id="50" idx="0"/>
          </p:cNvCxnSpPr>
          <p:nvPr/>
        </p:nvCxnSpPr>
        <p:spPr bwMode="auto">
          <a:xfrm>
            <a:off x="4465129" y="4802956"/>
            <a:ext cx="1" cy="36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A5575774-DE36-46F1-BE35-2B666193F90B}"/>
              </a:ext>
            </a:extLst>
          </p:cNvPr>
          <p:cNvCxnSpPr>
            <a:stCxn id="49" idx="2"/>
          </p:cNvCxnSpPr>
          <p:nvPr/>
        </p:nvCxnSpPr>
        <p:spPr bwMode="auto">
          <a:xfrm>
            <a:off x="7020299" y="4802956"/>
            <a:ext cx="0" cy="36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11C40BDC-43FA-493B-98FA-461EB8AD0EA4}"/>
              </a:ext>
            </a:extLst>
          </p:cNvPr>
          <p:cNvCxnSpPr>
            <a:stCxn id="45" idx="2"/>
          </p:cNvCxnSpPr>
          <p:nvPr/>
        </p:nvCxnSpPr>
        <p:spPr bwMode="auto">
          <a:xfrm flipH="1">
            <a:off x="1331964" y="4802957"/>
            <a:ext cx="598536" cy="3654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BCD21FA-EF96-4ECC-BAA3-5567073864F9}"/>
              </a:ext>
            </a:extLst>
          </p:cNvPr>
          <p:cNvCxnSpPr>
            <a:endCxn id="23" idx="0"/>
          </p:cNvCxnSpPr>
          <p:nvPr/>
        </p:nvCxnSpPr>
        <p:spPr bwMode="auto">
          <a:xfrm>
            <a:off x="1930500" y="4802956"/>
            <a:ext cx="707658" cy="36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51C3259C-D66B-4709-8475-F2D9CDB1FF48}"/>
              </a:ext>
            </a:extLst>
          </p:cNvPr>
          <p:cNvCxnSpPr>
            <a:endCxn id="51" idx="0"/>
          </p:cNvCxnSpPr>
          <p:nvPr/>
        </p:nvCxnSpPr>
        <p:spPr bwMode="auto">
          <a:xfrm flipH="1">
            <a:off x="3852293" y="4802956"/>
            <a:ext cx="612836" cy="36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C1340A8F-F825-4AF1-A167-04987845FA3D}"/>
              </a:ext>
            </a:extLst>
          </p:cNvPr>
          <p:cNvCxnSpPr>
            <a:endCxn id="52" idx="0"/>
          </p:cNvCxnSpPr>
          <p:nvPr/>
        </p:nvCxnSpPr>
        <p:spPr bwMode="auto">
          <a:xfrm>
            <a:off x="4481999" y="4802956"/>
            <a:ext cx="684114" cy="36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3A921EB-AF92-497F-8E7E-72DE73A90F74}"/>
              </a:ext>
            </a:extLst>
          </p:cNvPr>
          <p:cNvCxnSpPr>
            <a:stCxn id="49" idx="2"/>
            <a:endCxn id="54" idx="0"/>
          </p:cNvCxnSpPr>
          <p:nvPr/>
        </p:nvCxnSpPr>
        <p:spPr bwMode="auto">
          <a:xfrm flipH="1">
            <a:off x="6325844" y="4802956"/>
            <a:ext cx="694455" cy="3654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48D5EC7-8061-41D6-B389-060AB7E1075D}"/>
              </a:ext>
            </a:extLst>
          </p:cNvPr>
          <p:cNvCxnSpPr>
            <a:endCxn id="55" idx="0"/>
          </p:cNvCxnSpPr>
          <p:nvPr/>
        </p:nvCxnSpPr>
        <p:spPr bwMode="auto">
          <a:xfrm>
            <a:off x="7020299" y="4802956"/>
            <a:ext cx="679239" cy="36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3E776885-E39A-4720-9CD3-7376B4116C76}"/>
              </a:ext>
            </a:extLst>
          </p:cNvPr>
          <p:cNvCxnSpPr/>
          <p:nvPr/>
        </p:nvCxnSpPr>
        <p:spPr bwMode="auto">
          <a:xfrm>
            <a:off x="1241963" y="5438385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60E097DD-D5F2-4F8A-9E2B-B1D81E30FBA7}"/>
              </a:ext>
            </a:extLst>
          </p:cNvPr>
          <p:cNvCxnSpPr/>
          <p:nvPr/>
        </p:nvCxnSpPr>
        <p:spPr bwMode="auto">
          <a:xfrm>
            <a:off x="1936330" y="5445589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58B313F6-0B89-4A60-BBEB-077FB3ABAACC}"/>
              </a:ext>
            </a:extLst>
          </p:cNvPr>
          <p:cNvCxnSpPr/>
          <p:nvPr/>
        </p:nvCxnSpPr>
        <p:spPr bwMode="auto">
          <a:xfrm>
            <a:off x="2635621" y="5445589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2001E385-0A7A-47CB-9827-6F7CD0F94A9C}"/>
              </a:ext>
            </a:extLst>
          </p:cNvPr>
          <p:cNvCxnSpPr/>
          <p:nvPr/>
        </p:nvCxnSpPr>
        <p:spPr bwMode="auto">
          <a:xfrm>
            <a:off x="3761991" y="5438385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67BDEE1F-CAE7-4AB3-96D7-84C4DCD610F1}"/>
              </a:ext>
            </a:extLst>
          </p:cNvPr>
          <p:cNvCxnSpPr/>
          <p:nvPr/>
        </p:nvCxnSpPr>
        <p:spPr bwMode="auto">
          <a:xfrm>
            <a:off x="4465129" y="5438385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16E9D9CE-7894-442B-B989-2683D55F681F}"/>
              </a:ext>
            </a:extLst>
          </p:cNvPr>
          <p:cNvCxnSpPr/>
          <p:nvPr/>
        </p:nvCxnSpPr>
        <p:spPr bwMode="auto">
          <a:xfrm>
            <a:off x="5166113" y="5445589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EF6E03A0-E1F4-4509-AC5D-BB73CC73282B}"/>
              </a:ext>
            </a:extLst>
          </p:cNvPr>
          <p:cNvCxnSpPr/>
          <p:nvPr/>
        </p:nvCxnSpPr>
        <p:spPr bwMode="auto">
          <a:xfrm>
            <a:off x="6325844" y="5438385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3AE9C6BC-88D3-4BC0-BAB4-8D7AE40CE5DA}"/>
              </a:ext>
            </a:extLst>
          </p:cNvPr>
          <p:cNvCxnSpPr/>
          <p:nvPr/>
        </p:nvCxnSpPr>
        <p:spPr bwMode="auto">
          <a:xfrm>
            <a:off x="7002027" y="5438385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CB75EE16-51A7-4C92-9D50-0FB710867624}"/>
              </a:ext>
            </a:extLst>
          </p:cNvPr>
          <p:cNvCxnSpPr/>
          <p:nvPr/>
        </p:nvCxnSpPr>
        <p:spPr bwMode="auto">
          <a:xfrm>
            <a:off x="7699538" y="5438385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46C33A28-ED19-472A-ACF2-9068E4C2D8A6}"/>
              </a:ext>
            </a:extLst>
          </p:cNvPr>
          <p:cNvCxnSpPr>
            <a:stCxn id="45" idx="3"/>
          </p:cNvCxnSpPr>
          <p:nvPr/>
        </p:nvCxnSpPr>
        <p:spPr bwMode="auto">
          <a:xfrm flipV="1">
            <a:off x="2425505" y="4595262"/>
            <a:ext cx="1544618" cy="114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C4476F7F-7339-465D-9427-401A1CDD06B4}"/>
              </a:ext>
            </a:extLst>
          </p:cNvPr>
          <p:cNvCxnSpPr/>
          <p:nvPr/>
        </p:nvCxnSpPr>
        <p:spPr bwMode="auto">
          <a:xfrm flipV="1">
            <a:off x="4970404" y="4603002"/>
            <a:ext cx="1544618" cy="114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3A1B0CF-C37C-4F31-A940-4A04BA8BD2C1}"/>
                  </a:ext>
                </a:extLst>
              </p:cNvPr>
              <p:cNvSpPr txBox="1"/>
              <p:nvPr/>
            </p:nvSpPr>
            <p:spPr>
              <a:xfrm>
                <a:off x="3136996" y="4318242"/>
                <a:ext cx="3321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ko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3A1B0CF-C37C-4F31-A940-4A04BA8BD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96" y="4318242"/>
                <a:ext cx="332174" cy="369332"/>
              </a:xfrm>
              <a:prstGeom prst="rect">
                <a:avLst/>
              </a:prstGeom>
              <a:blipFill>
                <a:blip r:embed="rId3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34CB6E1B-B309-4A7F-AB9C-07150FB65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2962" y="1835765"/>
            <a:ext cx="1323369" cy="2292021"/>
          </a:xfrm>
          <a:prstGeom prst="rect">
            <a:avLst/>
          </a:prstGeom>
        </p:spPr>
      </p:pic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9A38976F-9396-4148-BF71-2CC3D2916691}"/>
              </a:ext>
            </a:extLst>
          </p:cNvPr>
          <p:cNvCxnSpPr>
            <a:cxnSpLocks/>
          </p:cNvCxnSpPr>
          <p:nvPr/>
        </p:nvCxnSpPr>
        <p:spPr bwMode="auto">
          <a:xfrm>
            <a:off x="5742713" y="2798993"/>
            <a:ext cx="1889321" cy="467668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0D41A14-735B-4208-98F1-C0ED09532FE4}"/>
              </a:ext>
            </a:extLst>
          </p:cNvPr>
          <p:cNvCxnSpPr/>
          <p:nvPr/>
        </p:nvCxnSpPr>
        <p:spPr bwMode="auto">
          <a:xfrm>
            <a:off x="5077966" y="2798993"/>
            <a:ext cx="255406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03486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795168"/>
            <a:ext cx="8492036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DAWN,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ACDC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오픈소스 데이터셋을 활용한 학습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검증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테스트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80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en-US" altLang="ko-KR" sz="1500" b="0" kern="0" dirty="0">
                <a:solidFill>
                  <a:schemeClr val="tx1"/>
                </a:solidFill>
                <a:latin typeface="+mn-ea"/>
                <a:ea typeface="+mn-ea"/>
              </a:rPr>
              <a:t>DAWN</a:t>
            </a: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전체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1,027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장 중 클래스 </a:t>
            </a:r>
            <a:r>
              <a:rPr lang="ko-KR" altLang="en-US" sz="1500" kern="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어노테이션이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안된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장 제외한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1,026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장 사용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lvl="1" indent="-180000" defTabSz="914400" eaLnBrk="1" hangingPunct="1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label 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데이터 변환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: txt </a:t>
            </a:r>
            <a:r>
              <a:rPr lang="ko-KR" altLang="en-US" sz="15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txt (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클래스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ID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를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COCO dataset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 형식으로 매핑만 진행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)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1,026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장 </a:t>
            </a:r>
            <a:r>
              <a:rPr lang="ko-KR" altLang="en-US" sz="15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5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shuffle → train, </a:t>
            </a:r>
            <a:r>
              <a:rPr lang="en-US" altLang="ko-KR" sz="1500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altLang="ko-KR" sz="15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test (7:2:1)</a:t>
            </a:r>
          </a:p>
          <a:p>
            <a:pPr marL="58680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arenR"/>
            </a:pPr>
            <a:endParaRPr lang="en-US" altLang="ko-KR" sz="1500" b="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80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en-US" altLang="ko-KR" sz="1500" b="0" kern="0" dirty="0">
                <a:solidFill>
                  <a:schemeClr val="tx1"/>
                </a:solidFill>
                <a:latin typeface="+mn-ea"/>
                <a:ea typeface="+mn-ea"/>
              </a:rPr>
              <a:t>ACDC</a:t>
            </a: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전체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4,006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장 중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label JSON 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파일의 빈 데이터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855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장 제외한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3,151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장 사용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lvl="1" indent="-180000" defTabSz="914400" eaLnBrk="1" hangingPunct="1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label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데이터 변환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: JSON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txt (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클래스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ID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는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COCO dataset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 형식으로 매핑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)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3,151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장 </a:t>
            </a:r>
            <a:r>
              <a:rPr lang="ko-KR" altLang="en-US" sz="15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5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shuffle → train, </a:t>
            </a:r>
            <a:r>
              <a:rPr lang="en-US" altLang="ko-KR" sz="1500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altLang="ko-KR" sz="15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test (7:2:1)</a:t>
            </a: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데이터셋 분할 및 </a:t>
            </a: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YOLOv8 </a:t>
            </a: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모델</a:t>
            </a: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3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F1F5D07-8E32-45F6-AC6F-D5306D8901F4}"/>
              </a:ext>
            </a:extLst>
          </p:cNvPr>
          <p:cNvSpPr/>
          <p:nvPr/>
        </p:nvSpPr>
        <p:spPr bwMode="auto">
          <a:xfrm>
            <a:off x="1658807" y="5262136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 err="1">
                <a:solidFill>
                  <a:schemeClr val="tx1"/>
                </a:solidFill>
                <a:latin typeface="Arial" charset="0"/>
              </a:rPr>
              <a:t>v</a:t>
            </a:r>
            <a:r>
              <a:rPr kumimoji="0" lang="en-US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al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600" dirty="0">
                <a:solidFill>
                  <a:schemeClr val="tx1"/>
                </a:solidFill>
                <a:latin typeface="Arial" charset="0"/>
              </a:rPr>
              <a:t>(205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C8D88B-0DEC-43EE-BCC4-4926767F98AE}"/>
              </a:ext>
            </a:extLst>
          </p:cNvPr>
          <p:cNvSpPr/>
          <p:nvPr/>
        </p:nvSpPr>
        <p:spPr bwMode="auto">
          <a:xfrm>
            <a:off x="971960" y="5262135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train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(718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E754753-A1A1-4D58-AE98-5D30223D43DE}"/>
              </a:ext>
            </a:extLst>
          </p:cNvPr>
          <p:cNvSpPr/>
          <p:nvPr/>
        </p:nvSpPr>
        <p:spPr bwMode="auto">
          <a:xfrm>
            <a:off x="2345654" y="5262134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test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(103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C5F007-962B-4E06-A40E-91E1EE95DD07}"/>
              </a:ext>
            </a:extLst>
          </p:cNvPr>
          <p:cNvSpPr/>
          <p:nvPr/>
        </p:nvSpPr>
        <p:spPr bwMode="auto">
          <a:xfrm>
            <a:off x="1658807" y="5943379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best.pt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26BE1B7-EC33-4A7C-8FFC-89B80D8FAF54}"/>
              </a:ext>
            </a:extLst>
          </p:cNvPr>
          <p:cNvSpPr/>
          <p:nvPr/>
        </p:nvSpPr>
        <p:spPr bwMode="auto">
          <a:xfrm>
            <a:off x="971960" y="5943378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y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olov8l.pt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2B8058-46B8-4096-B5A9-187F6D304F2B}"/>
              </a:ext>
            </a:extLst>
          </p:cNvPr>
          <p:cNvSpPr/>
          <p:nvPr/>
        </p:nvSpPr>
        <p:spPr bwMode="auto">
          <a:xfrm>
            <a:off x="2345654" y="5943377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best.pt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39F8E0E-4C5E-4213-9165-664ABE654F0A}"/>
              </a:ext>
            </a:extLst>
          </p:cNvPr>
          <p:cNvSpPr/>
          <p:nvPr/>
        </p:nvSpPr>
        <p:spPr bwMode="auto">
          <a:xfrm>
            <a:off x="6727796" y="5941822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best.pt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6700EB5-C3F6-46F2-95B1-CE65C812A874}"/>
              </a:ext>
            </a:extLst>
          </p:cNvPr>
          <p:cNvSpPr/>
          <p:nvPr/>
        </p:nvSpPr>
        <p:spPr bwMode="auto">
          <a:xfrm>
            <a:off x="6033340" y="5943377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y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olov8l.pt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120D8D-6DE0-4ABB-8666-D47713A31F6D}"/>
              </a:ext>
            </a:extLst>
          </p:cNvPr>
          <p:cNvSpPr/>
          <p:nvPr/>
        </p:nvSpPr>
        <p:spPr bwMode="auto">
          <a:xfrm>
            <a:off x="7407034" y="5943376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best.pt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4A1DE55-9F94-4B12-A67B-FBB88519D1E6}"/>
              </a:ext>
            </a:extLst>
          </p:cNvPr>
          <p:cNvSpPr/>
          <p:nvPr/>
        </p:nvSpPr>
        <p:spPr bwMode="auto">
          <a:xfrm>
            <a:off x="4186762" y="5949028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best.pt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C2BB35F-D971-40A4-A525-47315DCEEDC5}"/>
              </a:ext>
            </a:extLst>
          </p:cNvPr>
          <p:cNvSpPr/>
          <p:nvPr/>
        </p:nvSpPr>
        <p:spPr bwMode="auto">
          <a:xfrm>
            <a:off x="3499915" y="5949027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y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olo</a:t>
            </a: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v8l.pt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90B1A95-34ED-4EB4-A2BA-0293814E8B74}"/>
              </a:ext>
            </a:extLst>
          </p:cNvPr>
          <p:cNvSpPr/>
          <p:nvPr/>
        </p:nvSpPr>
        <p:spPr bwMode="auto">
          <a:xfrm>
            <a:off x="4873609" y="5949026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b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est.pt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05559AD-C4CA-4B9F-8E64-AFCFB9DAE29C}"/>
              </a:ext>
            </a:extLst>
          </p:cNvPr>
          <p:cNvSpPr/>
          <p:nvPr/>
        </p:nvSpPr>
        <p:spPr bwMode="auto">
          <a:xfrm>
            <a:off x="1435494" y="4504306"/>
            <a:ext cx="990011" cy="3924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DAWN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(1,026 images)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B14D224-5D23-4763-84FE-2DFCAA41827F}"/>
              </a:ext>
            </a:extLst>
          </p:cNvPr>
          <p:cNvSpPr/>
          <p:nvPr/>
        </p:nvSpPr>
        <p:spPr bwMode="auto">
          <a:xfrm>
            <a:off x="3970123" y="4504305"/>
            <a:ext cx="990011" cy="3924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ACDC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(3,151 images)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4E3AEC3-5FA1-4656-A328-FAD0C7616B54}"/>
              </a:ext>
            </a:extLst>
          </p:cNvPr>
          <p:cNvSpPr/>
          <p:nvPr/>
        </p:nvSpPr>
        <p:spPr bwMode="auto">
          <a:xfrm>
            <a:off x="6525293" y="4504305"/>
            <a:ext cx="990011" cy="3924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MERGED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tx1"/>
                </a:solidFill>
                <a:latin typeface="Arial" charset="0"/>
              </a:rPr>
              <a:t>(4,177 images)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3E7F85B-CABD-484E-B18A-08832E931ED7}"/>
              </a:ext>
            </a:extLst>
          </p:cNvPr>
          <p:cNvSpPr/>
          <p:nvPr/>
        </p:nvSpPr>
        <p:spPr bwMode="auto">
          <a:xfrm>
            <a:off x="4186762" y="5262136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 err="1">
                <a:solidFill>
                  <a:schemeClr val="tx1"/>
                </a:solidFill>
                <a:latin typeface="Arial" charset="0"/>
              </a:rPr>
              <a:t>v</a:t>
            </a:r>
            <a:r>
              <a:rPr kumimoji="0" lang="en-US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al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600" dirty="0">
                <a:solidFill>
                  <a:schemeClr val="tx1"/>
                </a:solidFill>
                <a:latin typeface="Arial" charset="0"/>
              </a:rPr>
              <a:t>(630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E170970-DFF6-4F4C-AD09-507089C5B0A9}"/>
              </a:ext>
            </a:extLst>
          </p:cNvPr>
          <p:cNvSpPr/>
          <p:nvPr/>
        </p:nvSpPr>
        <p:spPr bwMode="auto">
          <a:xfrm>
            <a:off x="3499915" y="5262135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train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(2,205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6348E89-BF10-41F9-B59C-224E98427315}"/>
              </a:ext>
            </a:extLst>
          </p:cNvPr>
          <p:cNvSpPr/>
          <p:nvPr/>
        </p:nvSpPr>
        <p:spPr bwMode="auto">
          <a:xfrm>
            <a:off x="4873609" y="5262134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test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(316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D83DE30-91C2-4CF6-8EAA-8B22CF7DC8E6}"/>
              </a:ext>
            </a:extLst>
          </p:cNvPr>
          <p:cNvSpPr/>
          <p:nvPr/>
        </p:nvSpPr>
        <p:spPr bwMode="auto">
          <a:xfrm>
            <a:off x="6720187" y="5262136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 err="1">
                <a:solidFill>
                  <a:schemeClr val="tx1"/>
                </a:solidFill>
                <a:latin typeface="Arial" charset="0"/>
              </a:rPr>
              <a:t>v</a:t>
            </a:r>
            <a:r>
              <a:rPr kumimoji="0" lang="en-US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al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600" dirty="0">
                <a:solidFill>
                  <a:schemeClr val="tx1"/>
                </a:solidFill>
                <a:latin typeface="Arial" charset="0"/>
              </a:rPr>
              <a:t>(836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8FF0C4F-96E8-4498-86A8-12C8541E6EF3}"/>
              </a:ext>
            </a:extLst>
          </p:cNvPr>
          <p:cNvSpPr/>
          <p:nvPr/>
        </p:nvSpPr>
        <p:spPr bwMode="auto">
          <a:xfrm>
            <a:off x="6033340" y="5262135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train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(2,923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986A0A5-E753-4D98-9980-2D5B0EF6F13E}"/>
              </a:ext>
            </a:extLst>
          </p:cNvPr>
          <p:cNvSpPr/>
          <p:nvPr/>
        </p:nvSpPr>
        <p:spPr bwMode="auto">
          <a:xfrm>
            <a:off x="7407034" y="5262134"/>
            <a:ext cx="585007" cy="27000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chemeClr val="tx1"/>
                </a:solidFill>
                <a:latin typeface="Arial" charset="0"/>
              </a:rPr>
              <a:t>test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(416 images)</a:t>
            </a:r>
            <a:endParaRPr kumimoji="0" lang="ko-KR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BD98118-63FD-4F17-8FCB-5F48F605A9D3}"/>
              </a:ext>
            </a:extLst>
          </p:cNvPr>
          <p:cNvCxnSpPr/>
          <p:nvPr/>
        </p:nvCxnSpPr>
        <p:spPr bwMode="auto">
          <a:xfrm>
            <a:off x="1930500" y="4896708"/>
            <a:ext cx="0" cy="36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C8CD313-6BE7-40B1-AAF3-D86911409326}"/>
              </a:ext>
            </a:extLst>
          </p:cNvPr>
          <p:cNvCxnSpPr>
            <a:stCxn id="48" idx="2"/>
            <a:endCxn id="50" idx="0"/>
          </p:cNvCxnSpPr>
          <p:nvPr/>
        </p:nvCxnSpPr>
        <p:spPr bwMode="auto">
          <a:xfrm>
            <a:off x="4465129" y="4896708"/>
            <a:ext cx="1" cy="36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A5575774-DE36-46F1-BE35-2B666193F90B}"/>
              </a:ext>
            </a:extLst>
          </p:cNvPr>
          <p:cNvCxnSpPr>
            <a:stCxn id="49" idx="2"/>
          </p:cNvCxnSpPr>
          <p:nvPr/>
        </p:nvCxnSpPr>
        <p:spPr bwMode="auto">
          <a:xfrm>
            <a:off x="7020299" y="4896708"/>
            <a:ext cx="0" cy="36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11C40BDC-43FA-493B-98FA-461EB8AD0EA4}"/>
              </a:ext>
            </a:extLst>
          </p:cNvPr>
          <p:cNvCxnSpPr>
            <a:stCxn id="45" idx="2"/>
          </p:cNvCxnSpPr>
          <p:nvPr/>
        </p:nvCxnSpPr>
        <p:spPr bwMode="auto">
          <a:xfrm flipH="1">
            <a:off x="1331964" y="4896709"/>
            <a:ext cx="598536" cy="3654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BCD21FA-EF96-4ECC-BAA3-5567073864F9}"/>
              </a:ext>
            </a:extLst>
          </p:cNvPr>
          <p:cNvCxnSpPr>
            <a:endCxn id="23" idx="0"/>
          </p:cNvCxnSpPr>
          <p:nvPr/>
        </p:nvCxnSpPr>
        <p:spPr bwMode="auto">
          <a:xfrm>
            <a:off x="1930500" y="4896708"/>
            <a:ext cx="707658" cy="36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51C3259C-D66B-4709-8475-F2D9CDB1FF48}"/>
              </a:ext>
            </a:extLst>
          </p:cNvPr>
          <p:cNvCxnSpPr>
            <a:endCxn id="51" idx="0"/>
          </p:cNvCxnSpPr>
          <p:nvPr/>
        </p:nvCxnSpPr>
        <p:spPr bwMode="auto">
          <a:xfrm flipH="1">
            <a:off x="3852293" y="4896708"/>
            <a:ext cx="612836" cy="36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C1340A8F-F825-4AF1-A167-04987845FA3D}"/>
              </a:ext>
            </a:extLst>
          </p:cNvPr>
          <p:cNvCxnSpPr>
            <a:endCxn id="52" idx="0"/>
          </p:cNvCxnSpPr>
          <p:nvPr/>
        </p:nvCxnSpPr>
        <p:spPr bwMode="auto">
          <a:xfrm>
            <a:off x="4481999" y="4896708"/>
            <a:ext cx="684114" cy="36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3A921EB-AF92-497F-8E7E-72DE73A90F74}"/>
              </a:ext>
            </a:extLst>
          </p:cNvPr>
          <p:cNvCxnSpPr>
            <a:stCxn id="49" idx="2"/>
            <a:endCxn id="54" idx="0"/>
          </p:cNvCxnSpPr>
          <p:nvPr/>
        </p:nvCxnSpPr>
        <p:spPr bwMode="auto">
          <a:xfrm flipH="1">
            <a:off x="6325844" y="4896708"/>
            <a:ext cx="694455" cy="3654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48D5EC7-8061-41D6-B389-060AB7E1075D}"/>
              </a:ext>
            </a:extLst>
          </p:cNvPr>
          <p:cNvCxnSpPr>
            <a:endCxn id="55" idx="0"/>
          </p:cNvCxnSpPr>
          <p:nvPr/>
        </p:nvCxnSpPr>
        <p:spPr bwMode="auto">
          <a:xfrm>
            <a:off x="7020299" y="4896708"/>
            <a:ext cx="679239" cy="36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3E776885-E39A-4720-9CD3-7376B4116C76}"/>
              </a:ext>
            </a:extLst>
          </p:cNvPr>
          <p:cNvCxnSpPr/>
          <p:nvPr/>
        </p:nvCxnSpPr>
        <p:spPr bwMode="auto">
          <a:xfrm>
            <a:off x="1241963" y="5532137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60E097DD-D5F2-4F8A-9E2B-B1D81E30FBA7}"/>
              </a:ext>
            </a:extLst>
          </p:cNvPr>
          <p:cNvCxnSpPr/>
          <p:nvPr/>
        </p:nvCxnSpPr>
        <p:spPr bwMode="auto">
          <a:xfrm>
            <a:off x="1936330" y="5539341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58B313F6-0B89-4A60-BBEB-077FB3ABAACC}"/>
              </a:ext>
            </a:extLst>
          </p:cNvPr>
          <p:cNvCxnSpPr/>
          <p:nvPr/>
        </p:nvCxnSpPr>
        <p:spPr bwMode="auto">
          <a:xfrm>
            <a:off x="2635621" y="5539341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2001E385-0A7A-47CB-9827-6F7CD0F94A9C}"/>
              </a:ext>
            </a:extLst>
          </p:cNvPr>
          <p:cNvCxnSpPr/>
          <p:nvPr/>
        </p:nvCxnSpPr>
        <p:spPr bwMode="auto">
          <a:xfrm>
            <a:off x="3761991" y="5532137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67BDEE1F-CAE7-4AB3-96D7-84C4DCD610F1}"/>
              </a:ext>
            </a:extLst>
          </p:cNvPr>
          <p:cNvCxnSpPr/>
          <p:nvPr/>
        </p:nvCxnSpPr>
        <p:spPr bwMode="auto">
          <a:xfrm>
            <a:off x="4465129" y="5532137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16E9D9CE-7894-442B-B989-2683D55F681F}"/>
              </a:ext>
            </a:extLst>
          </p:cNvPr>
          <p:cNvCxnSpPr/>
          <p:nvPr/>
        </p:nvCxnSpPr>
        <p:spPr bwMode="auto">
          <a:xfrm>
            <a:off x="5166113" y="5539341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EF6E03A0-E1F4-4509-AC5D-BB73CC73282B}"/>
              </a:ext>
            </a:extLst>
          </p:cNvPr>
          <p:cNvCxnSpPr/>
          <p:nvPr/>
        </p:nvCxnSpPr>
        <p:spPr bwMode="auto">
          <a:xfrm>
            <a:off x="6325844" y="5532137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3AE9C6BC-88D3-4BC0-BAB4-8D7AE40CE5DA}"/>
              </a:ext>
            </a:extLst>
          </p:cNvPr>
          <p:cNvCxnSpPr/>
          <p:nvPr/>
        </p:nvCxnSpPr>
        <p:spPr bwMode="auto">
          <a:xfrm>
            <a:off x="7002027" y="5532137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CB75EE16-51A7-4C92-9D50-0FB710867624}"/>
              </a:ext>
            </a:extLst>
          </p:cNvPr>
          <p:cNvCxnSpPr/>
          <p:nvPr/>
        </p:nvCxnSpPr>
        <p:spPr bwMode="auto">
          <a:xfrm>
            <a:off x="7699538" y="5532137"/>
            <a:ext cx="0" cy="409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46C33A28-ED19-472A-ACF2-9068E4C2D8A6}"/>
              </a:ext>
            </a:extLst>
          </p:cNvPr>
          <p:cNvCxnSpPr>
            <a:stCxn id="45" idx="3"/>
          </p:cNvCxnSpPr>
          <p:nvPr/>
        </p:nvCxnSpPr>
        <p:spPr bwMode="auto">
          <a:xfrm flipV="1">
            <a:off x="2425505" y="4689014"/>
            <a:ext cx="1544618" cy="114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C4476F7F-7339-465D-9427-401A1CDD06B4}"/>
              </a:ext>
            </a:extLst>
          </p:cNvPr>
          <p:cNvCxnSpPr/>
          <p:nvPr/>
        </p:nvCxnSpPr>
        <p:spPr bwMode="auto">
          <a:xfrm flipV="1">
            <a:off x="4970404" y="4696754"/>
            <a:ext cx="1544618" cy="114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3A1B0CF-C37C-4F31-A940-4A04BA8BD2C1}"/>
                  </a:ext>
                </a:extLst>
              </p:cNvPr>
              <p:cNvSpPr txBox="1"/>
              <p:nvPr/>
            </p:nvSpPr>
            <p:spPr>
              <a:xfrm>
                <a:off x="3136996" y="4411994"/>
                <a:ext cx="3321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ko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3A1B0CF-C37C-4F31-A940-4A04BA8BD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96" y="4411994"/>
                <a:ext cx="332174" cy="369332"/>
              </a:xfrm>
              <a:prstGeom prst="rect">
                <a:avLst/>
              </a:prstGeom>
              <a:blipFill>
                <a:blip r:embed="rId3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4962505A-321F-442D-927A-CC4704CBA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078" y="1995634"/>
            <a:ext cx="1871750" cy="95271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E21C94C-E247-465A-856B-0037F7C041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5858" y="3518938"/>
            <a:ext cx="1866190" cy="9181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84407F-C2AB-4492-9FC4-CB1A25993836}"/>
              </a:ext>
            </a:extLst>
          </p:cNvPr>
          <p:cNvSpPr txBox="1"/>
          <p:nvPr/>
        </p:nvSpPr>
        <p:spPr>
          <a:xfrm>
            <a:off x="5462481" y="2338891"/>
            <a:ext cx="1179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클래스 </a:t>
            </a:r>
            <a:r>
              <a:rPr lang="ko-KR" altLang="en-US" sz="1200" dirty="0" err="1"/>
              <a:t>재매핑</a:t>
            </a:r>
            <a:endParaRPr lang="ko-KR" altLang="en-US" sz="12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C367FC1-AEB8-4C6B-897C-F1A2D3A7EF07}"/>
              </a:ext>
            </a:extLst>
          </p:cNvPr>
          <p:cNvCxnSpPr/>
          <p:nvPr/>
        </p:nvCxnSpPr>
        <p:spPr bwMode="auto">
          <a:xfrm>
            <a:off x="6525293" y="2471992"/>
            <a:ext cx="47673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AB43228-951A-4FDE-948E-BB495724933D}"/>
              </a:ext>
            </a:extLst>
          </p:cNvPr>
          <p:cNvSpPr txBox="1"/>
          <p:nvPr/>
        </p:nvSpPr>
        <p:spPr>
          <a:xfrm>
            <a:off x="5462481" y="3865593"/>
            <a:ext cx="1179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클래스 </a:t>
            </a:r>
            <a:r>
              <a:rPr lang="ko-KR" altLang="en-US" sz="1200" dirty="0" err="1"/>
              <a:t>재매핑</a:t>
            </a:r>
            <a:endParaRPr lang="ko-KR" altLang="en-US" sz="1200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3E58FE5-5E03-46A7-BACF-3ED50E13F07C}"/>
              </a:ext>
            </a:extLst>
          </p:cNvPr>
          <p:cNvCxnSpPr/>
          <p:nvPr/>
        </p:nvCxnSpPr>
        <p:spPr bwMode="auto">
          <a:xfrm>
            <a:off x="6525293" y="3998694"/>
            <a:ext cx="47673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24505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>
            <a:extLst>
              <a:ext uri="{FF2B5EF4-FFF2-40B4-BE49-F238E27FC236}">
                <a16:creationId xmlns:a16="http://schemas.microsoft.com/office/drawing/2014/main" id="{610747C5-D187-49C5-8270-D89242276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818971"/>
            <a:ext cx="8492036" cy="5273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DAWN,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ACDC,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병합 데이터셋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(MERGED)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에 대한 가중치 학습 평가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각 데이터셋 별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test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set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검증 결과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상위 모델일수록 대체로 성능 높음</a:t>
            </a:r>
            <a:endParaRPr lang="en-US" altLang="ko-KR" sz="11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1280*1280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resizing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이 </a:t>
            </a: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640*640 resizing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보다 성능 높음</a:t>
            </a:r>
            <a:endParaRPr lang="en-US" altLang="ko-KR" sz="11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병합 데이터셋</a:t>
            </a: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(MERGED)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이 </a:t>
            </a: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DAWN, ACDC 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개별 데이터셋보다 성능 높음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4BB7AAA4-6D4B-4AAE-803A-F1B56E170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56" y="1369057"/>
            <a:ext cx="2350813" cy="1815972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E005BC2E-77B1-4A8D-B227-F13D354D3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344" y="1358977"/>
            <a:ext cx="2350814" cy="1815973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A74A1FB2-6792-45C6-A2C1-80A80AA417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954" y="3351645"/>
            <a:ext cx="2350816" cy="1815974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FA25E575-9E98-48AE-9457-59A8368972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1344" y="3351645"/>
            <a:ext cx="2350814" cy="181597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6CCA56A-16FC-41ED-A8B9-58DD911FA601}"/>
              </a:ext>
            </a:extLst>
          </p:cNvPr>
          <p:cNvSpPr txBox="1"/>
          <p:nvPr/>
        </p:nvSpPr>
        <p:spPr>
          <a:xfrm>
            <a:off x="661462" y="3118136"/>
            <a:ext cx="2177057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DAWN test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image</a:t>
            </a:r>
            <a:r>
              <a:rPr lang="ko-KR" altLang="en-US" sz="900" dirty="0">
                <a:solidFill>
                  <a:schemeClr val="tx1"/>
                </a:solidFill>
              </a:rPr>
              <a:t>에 대한 </a:t>
            </a:r>
            <a:r>
              <a:rPr lang="ko-KR" altLang="en-US" sz="900" dirty="0" err="1">
                <a:solidFill>
                  <a:schemeClr val="tx1"/>
                </a:solidFill>
              </a:rPr>
              <a:t>모델별</a:t>
            </a:r>
            <a:r>
              <a:rPr lang="ko-KR" altLang="en-US" sz="900" dirty="0">
                <a:solidFill>
                  <a:schemeClr val="tx1"/>
                </a:solidFill>
              </a:rPr>
              <a:t> 성능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27BBB4-6617-4E4E-BF11-5BCC0500952D}"/>
              </a:ext>
            </a:extLst>
          </p:cNvPr>
          <p:cNvSpPr txBox="1"/>
          <p:nvPr/>
        </p:nvSpPr>
        <p:spPr>
          <a:xfrm>
            <a:off x="3339312" y="3118136"/>
            <a:ext cx="2177057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ACDC test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image</a:t>
            </a:r>
            <a:r>
              <a:rPr lang="ko-KR" altLang="en-US" sz="900" dirty="0">
                <a:solidFill>
                  <a:schemeClr val="tx1"/>
                </a:solidFill>
              </a:rPr>
              <a:t>에 대한 </a:t>
            </a:r>
            <a:r>
              <a:rPr lang="ko-KR" altLang="en-US" sz="900" dirty="0" err="1">
                <a:solidFill>
                  <a:schemeClr val="tx1"/>
                </a:solidFill>
              </a:rPr>
              <a:t>모델별</a:t>
            </a:r>
            <a:r>
              <a:rPr lang="ko-KR" altLang="en-US" sz="900" dirty="0">
                <a:solidFill>
                  <a:schemeClr val="tx1"/>
                </a:solidFill>
              </a:rPr>
              <a:t> 성능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F79A33-A799-496F-8750-C21DF9C14588}"/>
              </a:ext>
            </a:extLst>
          </p:cNvPr>
          <p:cNvSpPr txBox="1"/>
          <p:nvPr/>
        </p:nvSpPr>
        <p:spPr>
          <a:xfrm>
            <a:off x="565760" y="5076006"/>
            <a:ext cx="2177057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Merged test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image</a:t>
            </a:r>
            <a:r>
              <a:rPr lang="ko-KR" altLang="en-US" sz="900" dirty="0">
                <a:solidFill>
                  <a:schemeClr val="tx1"/>
                </a:solidFill>
              </a:rPr>
              <a:t>에 대한 </a:t>
            </a:r>
            <a:r>
              <a:rPr lang="ko-KR" altLang="en-US" sz="900" dirty="0" err="1">
                <a:solidFill>
                  <a:schemeClr val="tx1"/>
                </a:solidFill>
              </a:rPr>
              <a:t>모델별</a:t>
            </a:r>
            <a:r>
              <a:rPr lang="ko-KR" altLang="en-US" sz="900" dirty="0">
                <a:solidFill>
                  <a:schemeClr val="tx1"/>
                </a:solidFill>
              </a:rPr>
              <a:t> 성능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325D0A-82D2-45FF-A94D-0FE21E148FED}"/>
              </a:ext>
            </a:extLst>
          </p:cNvPr>
          <p:cNvSpPr txBox="1"/>
          <p:nvPr/>
        </p:nvSpPr>
        <p:spPr>
          <a:xfrm>
            <a:off x="3339311" y="5076006"/>
            <a:ext cx="2177057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solidFill>
                  <a:schemeClr val="tx1"/>
                </a:solidFill>
              </a:rPr>
              <a:t>각 데이터셋 </a:t>
            </a:r>
            <a:r>
              <a:rPr lang="ko-KR" altLang="en-US" sz="900" dirty="0" err="1">
                <a:solidFill>
                  <a:schemeClr val="tx1"/>
                </a:solidFill>
              </a:rPr>
              <a:t>모델별</a:t>
            </a:r>
            <a:r>
              <a:rPr lang="ko-KR" altLang="en-US" sz="900" dirty="0">
                <a:solidFill>
                  <a:schemeClr val="tx1"/>
                </a:solidFill>
              </a:rPr>
              <a:t> 성능 종합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겹치기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</a:p>
        </p:txBody>
      </p:sp>
      <p:graphicFrame>
        <p:nvGraphicFramePr>
          <p:cNvPr id="44" name="표 34">
            <a:extLst>
              <a:ext uri="{FF2B5EF4-FFF2-40B4-BE49-F238E27FC236}">
                <a16:creationId xmlns:a16="http://schemas.microsoft.com/office/drawing/2014/main" id="{59DA83A4-1A78-46E9-BAB5-7D561119F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729955"/>
              </p:ext>
            </p:extLst>
          </p:nvPr>
        </p:nvGraphicFramePr>
        <p:xfrm>
          <a:off x="5652012" y="1448978"/>
          <a:ext cx="3330037" cy="40101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0019">
                  <a:extLst>
                    <a:ext uri="{9D8B030D-6E8A-4147-A177-3AD203B41FA5}">
                      <a16:colId xmlns:a16="http://schemas.microsoft.com/office/drawing/2014/main" val="341797854"/>
                    </a:ext>
                  </a:extLst>
                </a:gridCol>
                <a:gridCol w="1340002">
                  <a:extLst>
                    <a:ext uri="{9D8B030D-6E8A-4147-A177-3AD203B41FA5}">
                      <a16:colId xmlns:a16="http://schemas.microsoft.com/office/drawing/2014/main" val="3000288879"/>
                    </a:ext>
                  </a:extLst>
                </a:gridCol>
                <a:gridCol w="1440016">
                  <a:extLst>
                    <a:ext uri="{9D8B030D-6E8A-4147-A177-3AD203B41FA5}">
                      <a16:colId xmlns:a16="http://schemas.microsoft.com/office/drawing/2014/main" val="2782938709"/>
                    </a:ext>
                  </a:extLst>
                </a:gridCol>
              </a:tblGrid>
              <a:tr h="321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컬러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Test set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버전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274304"/>
                  </a:ext>
                </a:extLst>
              </a:tr>
              <a:tr h="32004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640*640 </a:t>
                      </a:r>
                    </a:p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(resizing / augmented)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학습 전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base_weight.pt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(Yolov8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어떤 버전인지 확인 불가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5432096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1280*1280</a:t>
                      </a:r>
                    </a:p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(resizing / augmented)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678654"/>
                  </a:ext>
                </a:extLst>
              </a:tr>
              <a:tr h="295718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640*640 </a:t>
                      </a:r>
                    </a:p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(resizing / augmented)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학습 후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Yolov8n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의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best.pt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1307924927"/>
                  </a:ext>
                </a:extLst>
              </a:tr>
              <a:tr h="2957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1280*1280</a:t>
                      </a:r>
                    </a:p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(resizing / augmented)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596820"/>
                  </a:ext>
                </a:extLst>
              </a:tr>
              <a:tr h="295718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640*640 </a:t>
                      </a:r>
                    </a:p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(resizing / augmented)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학습 후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Yolov8s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의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best.pt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1831939878"/>
                  </a:ext>
                </a:extLst>
              </a:tr>
              <a:tr h="2957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1280*1280</a:t>
                      </a:r>
                    </a:p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(resizing / augmented)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0241"/>
                  </a:ext>
                </a:extLst>
              </a:tr>
              <a:tr h="295718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640*640 </a:t>
                      </a:r>
                    </a:p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(resizing / augmented)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학습 후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Yolov8m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의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best.pt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242368096"/>
                  </a:ext>
                </a:extLst>
              </a:tr>
              <a:tr h="2957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1280*1280</a:t>
                      </a:r>
                    </a:p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(resizing / augmented)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983937"/>
                  </a:ext>
                </a:extLst>
              </a:tr>
              <a:tr h="295718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640*640 </a:t>
                      </a:r>
                    </a:p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(resizing / augmented)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학습 후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Yolov8l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의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best.pt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913432506"/>
                  </a:ext>
                </a:extLst>
              </a:tr>
              <a:tr h="2957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1280*1280</a:t>
                      </a:r>
                    </a:p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(resizing / augmented)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643435"/>
                  </a:ext>
                </a:extLst>
              </a:tr>
              <a:tr h="295718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640*640 </a:t>
                      </a:r>
                    </a:p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(resizing / augmented)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학습 후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Yolov8x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의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best.pt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extLst>
                  <a:ext uri="{0D108BD9-81ED-4DB2-BD59-A6C34878D82A}">
                    <a16:rowId xmlns:a16="http://schemas.microsoft.com/office/drawing/2014/main" val="194258598"/>
                  </a:ext>
                </a:extLst>
              </a:tr>
              <a:tr h="2957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1280*1280</a:t>
                      </a:r>
                    </a:p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(resizing / augmented)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63" marR="7563" marT="7563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41270"/>
                  </a:ext>
                </a:extLst>
              </a:tr>
            </a:tbl>
          </a:graphicData>
        </a:graphic>
      </p:graphicFrame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EACA2638-A670-4456-88F4-8EC4EB5882AD}"/>
              </a:ext>
            </a:extLst>
          </p:cNvPr>
          <p:cNvSpPr/>
          <p:nvPr/>
        </p:nvSpPr>
        <p:spPr bwMode="auto">
          <a:xfrm rot="5400000">
            <a:off x="5843719" y="2007040"/>
            <a:ext cx="180002" cy="180002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70F5E936-D222-4CF3-88D6-E4EDA730F180}"/>
              </a:ext>
            </a:extLst>
          </p:cNvPr>
          <p:cNvSpPr/>
          <p:nvPr/>
        </p:nvSpPr>
        <p:spPr bwMode="auto">
          <a:xfrm rot="5400000">
            <a:off x="5844103" y="2708992"/>
            <a:ext cx="180002" cy="180002"/>
          </a:xfrm>
          <a:prstGeom prst="triangle">
            <a:avLst/>
          </a:prstGeom>
          <a:solidFill>
            <a:srgbClr val="0033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47" name="이등변 삼각형 46">
            <a:extLst>
              <a:ext uri="{FF2B5EF4-FFF2-40B4-BE49-F238E27FC236}">
                <a16:creationId xmlns:a16="http://schemas.microsoft.com/office/drawing/2014/main" id="{989660CD-A83A-4EEF-B21D-01E8C6BECB4C}"/>
              </a:ext>
            </a:extLst>
          </p:cNvPr>
          <p:cNvSpPr/>
          <p:nvPr/>
        </p:nvSpPr>
        <p:spPr bwMode="auto">
          <a:xfrm rot="5400000">
            <a:off x="5838584" y="3298287"/>
            <a:ext cx="180002" cy="180002"/>
          </a:xfrm>
          <a:prstGeom prst="triangle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D7241210-1A15-4EC1-8F66-DE7A5F6E3937}"/>
              </a:ext>
            </a:extLst>
          </p:cNvPr>
          <p:cNvSpPr/>
          <p:nvPr/>
        </p:nvSpPr>
        <p:spPr bwMode="auto">
          <a:xfrm rot="5400000">
            <a:off x="5835251" y="3879005"/>
            <a:ext cx="180002" cy="180002"/>
          </a:xfrm>
          <a:prstGeom prst="triangle">
            <a:avLst/>
          </a:prstGeom>
          <a:solidFill>
            <a:srgbClr val="CF07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49" name="이등변 삼각형 48">
            <a:extLst>
              <a:ext uri="{FF2B5EF4-FFF2-40B4-BE49-F238E27FC236}">
                <a16:creationId xmlns:a16="http://schemas.microsoft.com/office/drawing/2014/main" id="{A6E77E6D-57B5-4F0E-84CA-AA09297FB13A}"/>
              </a:ext>
            </a:extLst>
          </p:cNvPr>
          <p:cNvSpPr/>
          <p:nvPr/>
        </p:nvSpPr>
        <p:spPr bwMode="auto">
          <a:xfrm rot="5400000">
            <a:off x="5826786" y="4457893"/>
            <a:ext cx="180002" cy="180002"/>
          </a:xfrm>
          <a:prstGeom prst="triangle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4241D1BC-299C-402F-B48A-B57D1E9BC5FA}"/>
              </a:ext>
            </a:extLst>
          </p:cNvPr>
          <p:cNvSpPr/>
          <p:nvPr/>
        </p:nvSpPr>
        <p:spPr bwMode="auto">
          <a:xfrm rot="5400000">
            <a:off x="5826786" y="5076006"/>
            <a:ext cx="180002" cy="180002"/>
          </a:xfrm>
          <a:prstGeom prst="triangl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819C4D2C-A56D-4B39-801E-0071656C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</p:spPr>
        <p:txBody>
          <a:bodyPr/>
          <a:lstStyle/>
          <a:p>
            <a:r>
              <a:rPr lang="ko-KR" altLang="en-US" dirty="0"/>
              <a:t>결과</a:t>
            </a:r>
            <a:r>
              <a:rPr lang="en-US" altLang="ko-KR" dirty="0"/>
              <a:t> </a:t>
            </a:r>
            <a:r>
              <a:rPr lang="ko-KR" altLang="en-US" dirty="0"/>
              <a:t>및 분석 </a:t>
            </a:r>
            <a:r>
              <a:rPr lang="en-US" altLang="ko-KR" dirty="0"/>
              <a:t>(Results &amp; Analysis)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337015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795168"/>
            <a:ext cx="8492036" cy="5432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DAWN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및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ACDC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데이터셋에 대한 데이터셋 병합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(MERGED)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효과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각 데이터셋</a:t>
            </a:r>
            <a:r>
              <a:rPr lang="en-US" altLang="ko-KR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15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통합 데이터셋 성능 검증 결과 비교</a:t>
            </a: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병합 데이터셋</a:t>
            </a: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(MERGED)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이 </a:t>
            </a:r>
            <a:r>
              <a:rPr lang="en-US" altLang="ko-KR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DAWN, ACDC </a:t>
            </a:r>
            <a:r>
              <a:rPr lang="ko-KR" altLang="en-US" sz="1100" kern="0" dirty="0">
                <a:solidFill>
                  <a:prstClr val="black"/>
                </a:solidFill>
                <a:latin typeface="맑은 고딕" panose="020B0503020000020004" pitchFamily="50" charset="-127"/>
              </a:rPr>
              <a:t>개별 데이터셋보다 대체로 성능 높음</a:t>
            </a:r>
            <a:endParaRPr lang="en-US" altLang="ko-KR" sz="11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FA883B-9038-41EC-8DC2-966493270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61" y="1385966"/>
            <a:ext cx="2880032" cy="222478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F5CF978-990D-49EE-B486-D4400CE0A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1994" y="1385967"/>
            <a:ext cx="2880032" cy="22247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45CC7C0-1188-4689-86AF-BADDDC56397E}"/>
              </a:ext>
            </a:extLst>
          </p:cNvPr>
          <p:cNvSpPr txBox="1"/>
          <p:nvPr/>
        </p:nvSpPr>
        <p:spPr>
          <a:xfrm>
            <a:off x="791959" y="3545989"/>
            <a:ext cx="3420038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DAWN test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image</a:t>
            </a:r>
            <a:r>
              <a:rPr lang="ko-KR" altLang="en-US" sz="900" dirty="0">
                <a:solidFill>
                  <a:schemeClr val="tx1"/>
                </a:solidFill>
              </a:rPr>
              <a:t>에 대한 </a:t>
            </a:r>
            <a:r>
              <a:rPr lang="en-US" altLang="ko-KR" sz="900" dirty="0">
                <a:solidFill>
                  <a:schemeClr val="tx1"/>
                </a:solidFill>
              </a:rPr>
              <a:t>DAWN-MERGED </a:t>
            </a:r>
            <a:r>
              <a:rPr lang="ko-KR" altLang="en-US" sz="900" dirty="0">
                <a:solidFill>
                  <a:schemeClr val="tx1"/>
                </a:solidFill>
              </a:rPr>
              <a:t>데이터셋 성능 비교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A70FE9-E699-4591-80B9-F7F231AD11A5}"/>
              </a:ext>
            </a:extLst>
          </p:cNvPr>
          <p:cNvSpPr txBox="1"/>
          <p:nvPr/>
        </p:nvSpPr>
        <p:spPr>
          <a:xfrm>
            <a:off x="4121994" y="3545989"/>
            <a:ext cx="3420038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/>
                </a:solidFill>
              </a:rPr>
              <a:t>ACDC test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image</a:t>
            </a:r>
            <a:r>
              <a:rPr lang="ko-KR" altLang="en-US" sz="900" dirty="0">
                <a:solidFill>
                  <a:schemeClr val="tx1"/>
                </a:solidFill>
              </a:rPr>
              <a:t>에 대한 </a:t>
            </a:r>
            <a:r>
              <a:rPr lang="en-US" altLang="ko-KR" sz="900" dirty="0">
                <a:solidFill>
                  <a:schemeClr val="tx1"/>
                </a:solidFill>
              </a:rPr>
              <a:t>ACDC-MERGED </a:t>
            </a:r>
            <a:r>
              <a:rPr lang="ko-KR" altLang="en-US" sz="900" dirty="0">
                <a:solidFill>
                  <a:schemeClr val="tx1"/>
                </a:solidFill>
              </a:rPr>
              <a:t>데이터셋 성능 비교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15EC807-C468-49C3-B9CD-942C7ADF6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074" y="3789004"/>
            <a:ext cx="2527633" cy="204702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ABB6FF9-EE84-4B1B-8CB6-73FD6E759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3772" y="3789004"/>
            <a:ext cx="2527633" cy="204702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2B5FBBC-DE96-4361-B5B3-5EAEEECE3AA4}"/>
              </a:ext>
            </a:extLst>
          </p:cNvPr>
          <p:cNvSpPr txBox="1"/>
          <p:nvPr/>
        </p:nvSpPr>
        <p:spPr>
          <a:xfrm>
            <a:off x="766807" y="5769230"/>
            <a:ext cx="3420038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 err="1">
                <a:solidFill>
                  <a:schemeClr val="tx1"/>
                </a:solidFill>
              </a:rPr>
              <a:t>날씨별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DAWN-MERGED </a:t>
            </a:r>
            <a:r>
              <a:rPr lang="ko-KR" altLang="en-US" sz="900" dirty="0">
                <a:solidFill>
                  <a:schemeClr val="tx1"/>
                </a:solidFill>
              </a:rPr>
              <a:t>데이터셋 성능 비교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0C451E-BFFB-4CA6-9419-4D7F818137E2}"/>
              </a:ext>
            </a:extLst>
          </p:cNvPr>
          <p:cNvSpPr txBox="1"/>
          <p:nvPr/>
        </p:nvSpPr>
        <p:spPr>
          <a:xfrm>
            <a:off x="3941993" y="5769229"/>
            <a:ext cx="3420038" cy="243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 err="1">
                <a:solidFill>
                  <a:schemeClr val="tx1"/>
                </a:solidFill>
              </a:rPr>
              <a:t>날씨별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ACDC-MERGED </a:t>
            </a:r>
            <a:r>
              <a:rPr lang="ko-KR" altLang="en-US" sz="900" dirty="0">
                <a:solidFill>
                  <a:schemeClr val="tx1"/>
                </a:solidFill>
              </a:rPr>
              <a:t>데이터셋 성능 비교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B79DFCE8-DCCC-4959-9100-07B5F852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</p:spPr>
        <p:txBody>
          <a:bodyPr/>
          <a:lstStyle/>
          <a:p>
            <a:r>
              <a:rPr lang="ko-KR" altLang="en-US" dirty="0"/>
              <a:t>결과</a:t>
            </a:r>
            <a:r>
              <a:rPr lang="en-US" altLang="ko-KR" dirty="0"/>
              <a:t> </a:t>
            </a:r>
            <a:r>
              <a:rPr lang="ko-KR" altLang="en-US" dirty="0"/>
              <a:t>및 분석 </a:t>
            </a:r>
            <a:r>
              <a:rPr lang="en-US" altLang="ko-KR" dirty="0"/>
              <a:t>(Results &amp; Analysis)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408490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00" y="908972"/>
            <a:ext cx="8373646" cy="598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AI-Hub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오픈소스 데이터셋을 활용한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YOLOv8l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학습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검증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테스트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7700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dataset_01 test set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  <a:r>
              <a:rPr lang="en-US" altLang="ko-KR" dirty="0"/>
              <a:t> </a:t>
            </a:r>
            <a:r>
              <a:rPr lang="ko-KR" altLang="en-US" dirty="0"/>
              <a:t>및 분석 </a:t>
            </a:r>
            <a:r>
              <a:rPr lang="en-US" altLang="ko-KR" dirty="0"/>
              <a:t>(Results &amp; Analysis)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254A13C-FF19-4C54-9959-4DD3AE3F7C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7" y="3644821"/>
            <a:ext cx="2970035" cy="19800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F97E15E-F899-4C30-8A0F-4E7A783D8E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7" y="1628980"/>
            <a:ext cx="2970033" cy="19800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888965C-DB8B-4385-9DF8-8CEB2C84D0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993" y="1628981"/>
            <a:ext cx="2970033" cy="19800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B24939B-F08A-4F53-B1E7-4420AEE9BF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800" y="1628981"/>
            <a:ext cx="2966884" cy="1977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FD03516-A294-45F8-82DC-7D539BE7EC9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922" y="3697998"/>
            <a:ext cx="2839940" cy="16270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9ECE5A2-CEDF-4DFE-8BD9-E5EEFDAF3B6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512" y="3705029"/>
            <a:ext cx="3201250" cy="16006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078498-8CC7-423C-AAFC-894C79C6BD27}"/>
              </a:ext>
            </a:extLst>
          </p:cNvPr>
          <p:cNvSpPr txBox="1"/>
          <p:nvPr/>
        </p:nvSpPr>
        <p:spPr>
          <a:xfrm>
            <a:off x="3652229" y="5267785"/>
            <a:ext cx="2090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train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</a:rPr>
              <a:t>validation </a:t>
            </a:r>
            <a:r>
              <a:rPr lang="ko-KR" altLang="en-US" sz="1000" dirty="0">
                <a:solidFill>
                  <a:schemeClr val="tx1"/>
                </a:solidFill>
              </a:rPr>
              <a:t>주요 </a:t>
            </a:r>
            <a:r>
              <a:rPr lang="en-US" altLang="ko-KR" sz="1000" dirty="0">
                <a:solidFill>
                  <a:schemeClr val="tx1"/>
                </a:solidFill>
              </a:rPr>
              <a:t>loss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</a:rPr>
              <a:t>Precision, Recall, </a:t>
            </a:r>
            <a:r>
              <a:rPr lang="en-US" altLang="ko-KR" sz="1000" dirty="0" err="1">
                <a:solidFill>
                  <a:schemeClr val="tx1"/>
                </a:solidFill>
              </a:rPr>
              <a:t>mAP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결과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D22FA-2D0F-4239-A79D-8926C45CD505}"/>
              </a:ext>
            </a:extLst>
          </p:cNvPr>
          <p:cNvSpPr txBox="1"/>
          <p:nvPr/>
        </p:nvSpPr>
        <p:spPr>
          <a:xfrm>
            <a:off x="6693072" y="5267785"/>
            <a:ext cx="18900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train set</a:t>
            </a:r>
            <a:r>
              <a:rPr lang="ko-KR" altLang="en-US" sz="1000" dirty="0">
                <a:solidFill>
                  <a:schemeClr val="tx1"/>
                </a:solidFill>
              </a:rPr>
              <a:t> 클래스 예측 결과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84360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00" y="864113"/>
            <a:ext cx="8373646" cy="598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AI-Hub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오픈소스 데이터셋을 활용한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YOLOv8l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학습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검증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테스트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7700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dataset_02 test set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  <a:r>
              <a:rPr lang="en-US" altLang="ko-KR" dirty="0"/>
              <a:t> </a:t>
            </a:r>
            <a:r>
              <a:rPr lang="ko-KR" altLang="en-US" dirty="0"/>
              <a:t>및 분석 </a:t>
            </a:r>
            <a:r>
              <a:rPr lang="en-US" altLang="ko-KR" dirty="0"/>
              <a:t>(Results &amp; Analysis)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71DC0A-4777-46C8-A0D8-47926EABE7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4" y="1663466"/>
            <a:ext cx="2975492" cy="19836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311B2F-3CF4-4589-8B3F-1D349BEA38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254" y="1663466"/>
            <a:ext cx="2975491" cy="19836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EBF0334-3F28-406C-9EDA-AACB953502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268" y="1663466"/>
            <a:ext cx="2975492" cy="19836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CD68D2C-4707-439E-9247-65D1C7A80EB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5" y="3760802"/>
            <a:ext cx="2975491" cy="19836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CF34117-3384-4DC8-A2CF-5A958E650AC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082" y="3951373"/>
            <a:ext cx="2797122" cy="16025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3DE4325-6065-406C-B403-08A31B11A53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254" y="3951373"/>
            <a:ext cx="3219210" cy="16096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C18DFBB-9821-4ED5-AC64-0CC8ACD0A58E}"/>
              </a:ext>
            </a:extLst>
          </p:cNvPr>
          <p:cNvSpPr txBox="1"/>
          <p:nvPr/>
        </p:nvSpPr>
        <p:spPr>
          <a:xfrm>
            <a:off x="6849254" y="5522805"/>
            <a:ext cx="18900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train set</a:t>
            </a:r>
            <a:r>
              <a:rPr lang="ko-KR" altLang="en-US" sz="1000" dirty="0">
                <a:solidFill>
                  <a:schemeClr val="tx1"/>
                </a:solidFill>
              </a:rPr>
              <a:t> 클래스 예측 결과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84951B-3E30-4F35-B3F3-0762809BC5E1}"/>
              </a:ext>
            </a:extLst>
          </p:cNvPr>
          <p:cNvSpPr txBox="1"/>
          <p:nvPr/>
        </p:nvSpPr>
        <p:spPr>
          <a:xfrm>
            <a:off x="3761991" y="5562206"/>
            <a:ext cx="2090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train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</a:rPr>
              <a:t>validation </a:t>
            </a:r>
            <a:r>
              <a:rPr lang="ko-KR" altLang="en-US" sz="1000" dirty="0">
                <a:solidFill>
                  <a:schemeClr val="tx1"/>
                </a:solidFill>
              </a:rPr>
              <a:t>주요 </a:t>
            </a:r>
            <a:r>
              <a:rPr lang="en-US" altLang="ko-KR" sz="1000" dirty="0">
                <a:solidFill>
                  <a:schemeClr val="tx1"/>
                </a:solidFill>
              </a:rPr>
              <a:t>loss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</a:rPr>
              <a:t>Precision, Recall, </a:t>
            </a:r>
            <a:r>
              <a:rPr lang="en-US" altLang="ko-KR" sz="1000" dirty="0" err="1">
                <a:solidFill>
                  <a:schemeClr val="tx1"/>
                </a:solidFill>
              </a:rPr>
              <a:t>mAP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결과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87800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00" y="864113"/>
            <a:ext cx="8373646" cy="598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AI-Hub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오픈소스 데이터셋을 활용한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YOLOv8l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학습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검증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테스트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7700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3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merged test set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  <a:r>
              <a:rPr lang="en-US" altLang="ko-KR" dirty="0"/>
              <a:t> </a:t>
            </a:r>
            <a:r>
              <a:rPr lang="ko-KR" altLang="en-US" dirty="0"/>
              <a:t>및 분석 </a:t>
            </a:r>
            <a:r>
              <a:rPr lang="en-US" altLang="ko-KR" dirty="0"/>
              <a:t>(Results &amp; Analysis)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D8CB248-57D7-4666-B9BF-0CAAD23F8A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5" y="1631443"/>
            <a:ext cx="2971598" cy="19810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A55F002-7321-4DE8-A7ED-AAC8F8879B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021" y="1629257"/>
            <a:ext cx="2971598" cy="19810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02056F8-B139-40BF-9E46-F323994E34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645" y="1629257"/>
            <a:ext cx="2971598" cy="19810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2E77155-17B6-44DE-BBB3-72E948FA31D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5" y="3785940"/>
            <a:ext cx="2971598" cy="19810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C38B511-548B-434B-8956-3647167DA47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332" y="3940043"/>
            <a:ext cx="3155535" cy="15777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E3C646-304B-489D-8A5C-F240CB736283}"/>
              </a:ext>
            </a:extLst>
          </p:cNvPr>
          <p:cNvSpPr txBox="1"/>
          <p:nvPr/>
        </p:nvSpPr>
        <p:spPr>
          <a:xfrm>
            <a:off x="6822025" y="5522805"/>
            <a:ext cx="18900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train set</a:t>
            </a:r>
            <a:r>
              <a:rPr lang="ko-KR" altLang="en-US" sz="1000" dirty="0">
                <a:solidFill>
                  <a:schemeClr val="tx1"/>
                </a:solidFill>
              </a:rPr>
              <a:t> 클래스 예측 결과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6904E10-ADDF-4D73-B60B-2D70F61A614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777" y="3940043"/>
            <a:ext cx="2786838" cy="15966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21CBEB-BB87-431C-A365-878D54C3DFC4}"/>
              </a:ext>
            </a:extLst>
          </p:cNvPr>
          <p:cNvSpPr txBox="1"/>
          <p:nvPr/>
        </p:nvSpPr>
        <p:spPr>
          <a:xfrm>
            <a:off x="3671990" y="5517811"/>
            <a:ext cx="2090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train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</a:rPr>
              <a:t>validation </a:t>
            </a:r>
            <a:r>
              <a:rPr lang="ko-KR" altLang="en-US" sz="1000" dirty="0">
                <a:solidFill>
                  <a:schemeClr val="tx1"/>
                </a:solidFill>
              </a:rPr>
              <a:t>주요 </a:t>
            </a:r>
            <a:r>
              <a:rPr lang="en-US" altLang="ko-KR" sz="1000" dirty="0">
                <a:solidFill>
                  <a:schemeClr val="tx1"/>
                </a:solidFill>
              </a:rPr>
              <a:t>loss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</a:rPr>
              <a:t>Precision, Recall, </a:t>
            </a:r>
            <a:r>
              <a:rPr lang="en-US" altLang="ko-KR" sz="1000" dirty="0" err="1">
                <a:solidFill>
                  <a:schemeClr val="tx1"/>
                </a:solidFill>
              </a:rPr>
              <a:t>mAP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결과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17725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00" y="816940"/>
            <a:ext cx="8373646" cy="1149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AI-Hub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오픈소스 데이터셋을 활용한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YOLOv8l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학습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검증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테스트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7700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Train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: 50 epochs,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총 학습시간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: 60.36h</a:t>
            </a:r>
          </a:p>
          <a:p>
            <a:pPr marL="587700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테스트 결과 로그 비교 시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Precision, Recall, mAP50, mAP50-95 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정량적 지표에서 데이터셋을 병합했을 때가 개별 데이터셋 성능보다 나은 결과 도출</a:t>
            </a:r>
            <a:endParaRPr lang="en-US" altLang="ko-KR" sz="1400" b="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  <a:r>
              <a:rPr lang="en-US" altLang="ko-KR" dirty="0"/>
              <a:t> </a:t>
            </a:r>
            <a:r>
              <a:rPr lang="ko-KR" altLang="en-US" dirty="0"/>
              <a:t>및 분석 </a:t>
            </a:r>
            <a:r>
              <a:rPr lang="en-US" altLang="ko-KR" dirty="0"/>
              <a:t>(Results &amp; Analysis)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ECB0ED-3265-46D7-BF15-166A90F6C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62" y="1992736"/>
            <a:ext cx="4007107" cy="19948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F6DF14D-C6A8-4BD1-AB22-10BB30F15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62" y="4087687"/>
            <a:ext cx="4007107" cy="231134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49E2799-A2A9-4309-849D-1D14FAC19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626" y="2738269"/>
            <a:ext cx="4216549" cy="269883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212211-251F-417B-B97A-752A5C78743C}"/>
              </a:ext>
            </a:extLst>
          </p:cNvPr>
          <p:cNvSpPr/>
          <p:nvPr/>
        </p:nvSpPr>
        <p:spPr bwMode="auto">
          <a:xfrm>
            <a:off x="883121" y="2542638"/>
            <a:ext cx="2430027" cy="18000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A86A23A-2390-40A3-9EE8-E9790F8C920F}"/>
              </a:ext>
            </a:extLst>
          </p:cNvPr>
          <p:cNvSpPr/>
          <p:nvPr/>
        </p:nvSpPr>
        <p:spPr bwMode="auto">
          <a:xfrm>
            <a:off x="883121" y="4972665"/>
            <a:ext cx="2430027" cy="18000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8C899CC-76B0-499B-8B59-9AE5A8988474}"/>
              </a:ext>
            </a:extLst>
          </p:cNvPr>
          <p:cNvSpPr/>
          <p:nvPr/>
        </p:nvSpPr>
        <p:spPr bwMode="auto">
          <a:xfrm>
            <a:off x="5324794" y="3931566"/>
            <a:ext cx="2610029" cy="16940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5CFB5C6F-7601-4BEE-B0A3-D6740466073E}"/>
              </a:ext>
            </a:extLst>
          </p:cNvPr>
          <p:cNvSpPr/>
          <p:nvPr/>
        </p:nvSpPr>
        <p:spPr bwMode="auto">
          <a:xfrm>
            <a:off x="4457972" y="3943623"/>
            <a:ext cx="301627" cy="169405"/>
          </a:xfrm>
          <a:prstGeom prst="rightArrow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31287905-D07D-485A-AAFE-C5F6CD682F85}"/>
              </a:ext>
            </a:extLst>
          </p:cNvPr>
          <p:cNvSpPr/>
          <p:nvPr/>
        </p:nvSpPr>
        <p:spPr bwMode="auto">
          <a:xfrm>
            <a:off x="6777872" y="5437105"/>
            <a:ext cx="180002" cy="270003"/>
          </a:xfrm>
          <a:prstGeom prst="downArrow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D94515-231B-4A36-B839-50F6FC198B55}"/>
              </a:ext>
            </a:extLst>
          </p:cNvPr>
          <p:cNvSpPr txBox="1"/>
          <p:nvPr/>
        </p:nvSpPr>
        <p:spPr>
          <a:xfrm>
            <a:off x="4759599" y="5707108"/>
            <a:ext cx="42165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ko-KR" altLang="en-US" sz="1000" dirty="0"/>
              <a:t>데이터 </a:t>
            </a:r>
            <a:r>
              <a:rPr lang="en-US" altLang="ko-KR" sz="1000" dirty="0"/>
              <a:t>resizing, augmentation</a:t>
            </a:r>
            <a:r>
              <a:rPr lang="ko-KR" altLang="en-US" sz="1000" dirty="0"/>
              <a:t>을 통해 입력 이미지 사이즈를 균일하게 맞추고</a:t>
            </a:r>
            <a:r>
              <a:rPr lang="en-US" altLang="ko-KR" sz="1000" dirty="0"/>
              <a:t>, </a:t>
            </a:r>
            <a:r>
              <a:rPr lang="ko-KR" altLang="en-US" sz="1000" dirty="0"/>
              <a:t>데이터셋을 </a:t>
            </a:r>
            <a:r>
              <a:rPr lang="en-US" altLang="ko-KR" sz="1000" dirty="0"/>
              <a:t>2~3</a:t>
            </a:r>
            <a:r>
              <a:rPr lang="ko-KR" altLang="en-US" sz="1000" dirty="0"/>
              <a:t>배 증강</a:t>
            </a:r>
            <a:r>
              <a:rPr lang="en-US" altLang="ko-KR" sz="1000" dirty="0"/>
              <a:t>, epoch 100</a:t>
            </a:r>
            <a:r>
              <a:rPr lang="ko-KR" altLang="en-US" sz="1000" dirty="0"/>
              <a:t> 이상 조건에서 학습</a:t>
            </a:r>
            <a:r>
              <a:rPr lang="en-US" altLang="ko-KR" sz="1000" dirty="0"/>
              <a:t>, </a:t>
            </a:r>
            <a:r>
              <a:rPr lang="ko-KR" altLang="en-US" sz="1000" dirty="0"/>
              <a:t>검증</a:t>
            </a:r>
            <a:r>
              <a:rPr lang="en-US" altLang="ko-KR" sz="1000" dirty="0"/>
              <a:t>, </a:t>
            </a:r>
            <a:r>
              <a:rPr lang="ko-KR" altLang="en-US" sz="1000" dirty="0"/>
              <a:t>테스트 결과 분석 필요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02148731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00" y="860951"/>
            <a:ext cx="8373646" cy="598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DAWN,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ACDC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오픈소스 데이터셋을 활용한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YOLOv8l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학습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검증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테스트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7700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DAWN test set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  <a:r>
              <a:rPr lang="en-US" altLang="ko-KR" dirty="0"/>
              <a:t> </a:t>
            </a:r>
            <a:r>
              <a:rPr lang="ko-KR" altLang="en-US" dirty="0"/>
              <a:t>및 분석 </a:t>
            </a:r>
            <a:r>
              <a:rPr lang="en-US" altLang="ko-KR" dirty="0"/>
              <a:t>(Results &amp; Analysis)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F3F8A3-6390-487C-8FEE-1A40741C80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0" y="1610157"/>
            <a:ext cx="2929284" cy="1952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637FA45-5E55-493A-8203-E6096DA16B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734" y="1610157"/>
            <a:ext cx="2929284" cy="1952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685EEA3-DF5B-47D0-98EA-06E981522F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276" y="1610158"/>
            <a:ext cx="2929284" cy="19528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ECA1F22-5ED0-4AAF-9338-0B900D69AFC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1" y="3743014"/>
            <a:ext cx="2929284" cy="1952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9B60BA1-F7D5-4619-AFCA-F351CF9BEA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767" y="3847651"/>
            <a:ext cx="2911793" cy="16682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33914A9-102F-4732-9592-37F6B019C5D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132" y="3916329"/>
            <a:ext cx="3003736" cy="15018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E5A321-B248-444A-BFA9-202D43729944}"/>
              </a:ext>
            </a:extLst>
          </p:cNvPr>
          <p:cNvSpPr txBox="1"/>
          <p:nvPr/>
        </p:nvSpPr>
        <p:spPr>
          <a:xfrm>
            <a:off x="6729345" y="5543034"/>
            <a:ext cx="18900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train set</a:t>
            </a:r>
            <a:r>
              <a:rPr lang="ko-KR" altLang="en-US" sz="1000" dirty="0">
                <a:solidFill>
                  <a:schemeClr val="tx1"/>
                </a:solidFill>
              </a:rPr>
              <a:t> 클래스 예측 결과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688780-4F65-4565-BC1F-2F60B2E8B1BA}"/>
              </a:ext>
            </a:extLst>
          </p:cNvPr>
          <p:cNvSpPr txBox="1"/>
          <p:nvPr/>
        </p:nvSpPr>
        <p:spPr>
          <a:xfrm>
            <a:off x="3579310" y="5458917"/>
            <a:ext cx="2090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train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</a:rPr>
              <a:t>validation </a:t>
            </a:r>
            <a:r>
              <a:rPr lang="ko-KR" altLang="en-US" sz="1000" dirty="0">
                <a:solidFill>
                  <a:schemeClr val="tx1"/>
                </a:solidFill>
              </a:rPr>
              <a:t>주요 </a:t>
            </a:r>
            <a:r>
              <a:rPr lang="en-US" altLang="ko-KR" sz="1000" dirty="0">
                <a:solidFill>
                  <a:schemeClr val="tx1"/>
                </a:solidFill>
              </a:rPr>
              <a:t>loss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</a:rPr>
              <a:t>Precision, Recall, </a:t>
            </a:r>
            <a:r>
              <a:rPr lang="en-US" altLang="ko-KR" sz="1000" dirty="0" err="1">
                <a:solidFill>
                  <a:schemeClr val="tx1"/>
                </a:solidFill>
              </a:rPr>
              <a:t>mAP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결과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48781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00" y="831785"/>
            <a:ext cx="8373646" cy="598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DAWN,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ACDC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오픈소스 데이터셋을 활용한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YOLOv8l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학습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검증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테스트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7700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ACDC test set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  <a:r>
              <a:rPr lang="en-US" altLang="ko-KR" dirty="0"/>
              <a:t> </a:t>
            </a:r>
            <a:r>
              <a:rPr lang="ko-KR" altLang="en-US" dirty="0"/>
              <a:t>및 분석 </a:t>
            </a:r>
            <a:r>
              <a:rPr lang="en-US" altLang="ko-KR" dirty="0"/>
              <a:t>(Results &amp; Analysis)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C727B6B-FC0F-4100-9BF5-697A00C2A3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8" y="1607599"/>
            <a:ext cx="2947765" cy="19651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7014A47-0D85-401B-8640-2F214D4F26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446" y="1607599"/>
            <a:ext cx="2947766" cy="19651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2B474FA-430D-4F55-ACAD-0D7E77EE40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267" y="1607599"/>
            <a:ext cx="2947765" cy="19651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9F0D91C-C9AF-4451-850A-134282A4552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8" y="3713849"/>
            <a:ext cx="2947765" cy="19651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60F5952-3D88-4415-823D-2680909646D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266" y="3764512"/>
            <a:ext cx="2947765" cy="16888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7E8237D-0271-493C-815B-3CA75F04395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177" y="3847511"/>
            <a:ext cx="3045646" cy="15228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366E10-9822-4EA2-AF48-30328FB32D23}"/>
              </a:ext>
            </a:extLst>
          </p:cNvPr>
          <p:cNvSpPr txBox="1"/>
          <p:nvPr/>
        </p:nvSpPr>
        <p:spPr>
          <a:xfrm>
            <a:off x="6684137" y="5453335"/>
            <a:ext cx="18900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train set</a:t>
            </a:r>
            <a:r>
              <a:rPr lang="ko-KR" altLang="en-US" sz="1000" dirty="0">
                <a:solidFill>
                  <a:schemeClr val="tx1"/>
                </a:solidFill>
              </a:rPr>
              <a:t> 클래스 예측 결과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514C16-8727-4CBC-9182-9FA36D7B74F7}"/>
              </a:ext>
            </a:extLst>
          </p:cNvPr>
          <p:cNvSpPr txBox="1"/>
          <p:nvPr/>
        </p:nvSpPr>
        <p:spPr>
          <a:xfrm>
            <a:off x="3536867" y="5376390"/>
            <a:ext cx="2090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train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</a:rPr>
              <a:t>validation </a:t>
            </a:r>
            <a:r>
              <a:rPr lang="ko-KR" altLang="en-US" sz="1000" dirty="0">
                <a:solidFill>
                  <a:schemeClr val="tx1"/>
                </a:solidFill>
              </a:rPr>
              <a:t>주요 </a:t>
            </a:r>
            <a:r>
              <a:rPr lang="en-US" altLang="ko-KR" sz="1000" dirty="0">
                <a:solidFill>
                  <a:schemeClr val="tx1"/>
                </a:solidFill>
              </a:rPr>
              <a:t>loss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</a:rPr>
              <a:t>Precision, Recall, </a:t>
            </a:r>
            <a:r>
              <a:rPr lang="en-US" altLang="ko-KR" sz="1000" dirty="0" err="1">
                <a:solidFill>
                  <a:schemeClr val="tx1"/>
                </a:solidFill>
              </a:rPr>
              <a:t>mAP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결과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50324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00" y="816940"/>
            <a:ext cx="8373646" cy="598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DAWN,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ACDC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오픈소스 데이터셋을 활용한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YOLOv8l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학습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검증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테스트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7700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3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MERGED test set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  <a:r>
              <a:rPr lang="en-US" altLang="ko-KR" dirty="0"/>
              <a:t> </a:t>
            </a:r>
            <a:r>
              <a:rPr lang="ko-KR" altLang="en-US" dirty="0"/>
              <a:t>및 분석 </a:t>
            </a:r>
            <a:r>
              <a:rPr lang="en-US" altLang="ko-KR" dirty="0"/>
              <a:t>(Results &amp; Analysis)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1069FF-D6D1-4735-ACC1-710597CF66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60" y="1513589"/>
            <a:ext cx="2926713" cy="19511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23EAA2B-CFFE-4FCF-9ABA-C85D74F323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555" y="1513588"/>
            <a:ext cx="2926713" cy="19511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6860927-3105-4A9F-92FB-F966231BCB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337" y="1513589"/>
            <a:ext cx="2926713" cy="19511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E69E90B-6762-459F-9889-D39FD461D8D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60" y="3699003"/>
            <a:ext cx="2926713" cy="19511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F060EEA-408E-42AA-941F-BC1E9752FD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337" y="3786674"/>
            <a:ext cx="2929907" cy="16785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9F6F2E4-BAE3-45E4-BE6C-F0E28CC42D6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555" y="3889912"/>
            <a:ext cx="2944232" cy="14721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29F1D0-DE37-4DF9-A51B-944D558CFC9B}"/>
              </a:ext>
            </a:extLst>
          </p:cNvPr>
          <p:cNvSpPr txBox="1"/>
          <p:nvPr/>
        </p:nvSpPr>
        <p:spPr>
          <a:xfrm>
            <a:off x="6684137" y="5453335"/>
            <a:ext cx="18900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train set</a:t>
            </a:r>
            <a:r>
              <a:rPr lang="ko-KR" altLang="en-US" sz="1000" dirty="0">
                <a:solidFill>
                  <a:schemeClr val="tx1"/>
                </a:solidFill>
              </a:rPr>
              <a:t> 클래스 예측 결과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A5C46-DAAE-4EE5-AE54-09CFFE04D801}"/>
              </a:ext>
            </a:extLst>
          </p:cNvPr>
          <p:cNvSpPr txBox="1"/>
          <p:nvPr/>
        </p:nvSpPr>
        <p:spPr>
          <a:xfrm>
            <a:off x="3536867" y="5376390"/>
            <a:ext cx="2090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train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</a:rPr>
              <a:t>validation </a:t>
            </a:r>
            <a:r>
              <a:rPr lang="ko-KR" altLang="en-US" sz="1000" dirty="0">
                <a:solidFill>
                  <a:schemeClr val="tx1"/>
                </a:solidFill>
              </a:rPr>
              <a:t>주요 </a:t>
            </a:r>
            <a:r>
              <a:rPr lang="en-US" altLang="ko-KR" sz="1000" dirty="0">
                <a:solidFill>
                  <a:schemeClr val="tx1"/>
                </a:solidFill>
              </a:rPr>
              <a:t>loss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</a:rPr>
              <a:t>Precision, Recall, </a:t>
            </a:r>
            <a:r>
              <a:rPr lang="en-US" altLang="ko-KR" sz="1000" dirty="0" err="1">
                <a:solidFill>
                  <a:schemeClr val="tx1"/>
                </a:solidFill>
              </a:rPr>
              <a:t>mAP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결과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60937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00" y="816940"/>
            <a:ext cx="8373646" cy="1149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DAWN,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ACDC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오픈소스 데이터셋을 활용한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YOLOv8l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 학습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검증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테스트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7700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train :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50 epochs,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총 학습시간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: 26.53h</a:t>
            </a:r>
          </a:p>
          <a:p>
            <a:pPr marL="587700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테스트 결과 로그 비교 시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Precision, Recall, mAP50, mAP50-95 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정량적 지표에서 데이터셋을 병합했을 때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, DAWN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보다는 대체로 근소하게 높고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, ACDC 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보다는 대체로 낮게 도출 </a:t>
            </a:r>
            <a:endParaRPr lang="en-US" altLang="ko-KR" sz="1400" b="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  <a:r>
              <a:rPr lang="en-US" altLang="ko-KR" dirty="0"/>
              <a:t> </a:t>
            </a:r>
            <a:r>
              <a:rPr lang="ko-KR" altLang="en-US" dirty="0"/>
              <a:t>및 분석 </a:t>
            </a:r>
            <a:r>
              <a:rPr lang="en-US" altLang="ko-KR" dirty="0"/>
              <a:t>(Results &amp; Analysis)</a:t>
            </a:r>
            <a:endParaRPr lang="ko-KR" altLang="en-US" dirty="0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5CFB5C6F-7601-4BEE-B0A3-D6740466073E}"/>
              </a:ext>
            </a:extLst>
          </p:cNvPr>
          <p:cNvSpPr/>
          <p:nvPr/>
        </p:nvSpPr>
        <p:spPr bwMode="auto">
          <a:xfrm>
            <a:off x="4457972" y="3943623"/>
            <a:ext cx="301627" cy="169405"/>
          </a:xfrm>
          <a:prstGeom prst="rightArrow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EA3B226-E9FB-4960-8393-CB1E10715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00" y="2059635"/>
            <a:ext cx="4007108" cy="197730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212211-251F-417B-B97A-752A5C78743C}"/>
              </a:ext>
            </a:extLst>
          </p:cNvPr>
          <p:cNvSpPr/>
          <p:nvPr/>
        </p:nvSpPr>
        <p:spPr bwMode="auto">
          <a:xfrm>
            <a:off x="883120" y="2716655"/>
            <a:ext cx="2430027" cy="18000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A2DFBCC-CE59-4D87-B3B9-F49B113B9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29" y="4162877"/>
            <a:ext cx="4021746" cy="209247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3A86A23A-2390-40A3-9EE8-E9790F8C920F}"/>
              </a:ext>
            </a:extLst>
          </p:cNvPr>
          <p:cNvSpPr/>
          <p:nvPr/>
        </p:nvSpPr>
        <p:spPr bwMode="auto">
          <a:xfrm>
            <a:off x="891834" y="4869016"/>
            <a:ext cx="2430027" cy="18000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48FCCD8-324B-4746-B369-E9EB42110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494" y="2988879"/>
            <a:ext cx="4273556" cy="220152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8C899CC-76B0-499B-8B59-9AE5A8988474}"/>
              </a:ext>
            </a:extLst>
          </p:cNvPr>
          <p:cNvSpPr/>
          <p:nvPr/>
        </p:nvSpPr>
        <p:spPr bwMode="auto">
          <a:xfrm>
            <a:off x="5382009" y="3699003"/>
            <a:ext cx="2610029" cy="16940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D4539068-0782-4656-927A-2ACE7B241637}"/>
              </a:ext>
            </a:extLst>
          </p:cNvPr>
          <p:cNvSpPr/>
          <p:nvPr/>
        </p:nvSpPr>
        <p:spPr bwMode="auto">
          <a:xfrm>
            <a:off x="6642023" y="5319021"/>
            <a:ext cx="180002" cy="270003"/>
          </a:xfrm>
          <a:prstGeom prst="downArrow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57E4D8-C1B7-4DFE-A72F-0FE150930464}"/>
              </a:ext>
            </a:extLst>
          </p:cNvPr>
          <p:cNvSpPr txBox="1"/>
          <p:nvPr/>
        </p:nvSpPr>
        <p:spPr>
          <a:xfrm>
            <a:off x="4759599" y="5678246"/>
            <a:ext cx="42165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ko-KR" altLang="en-US" sz="1000" dirty="0"/>
              <a:t>데이터 </a:t>
            </a:r>
            <a:r>
              <a:rPr lang="en-US" altLang="ko-KR" sz="1000" dirty="0"/>
              <a:t>resizing, augmentation</a:t>
            </a:r>
            <a:r>
              <a:rPr lang="ko-KR" altLang="en-US" sz="1000" dirty="0"/>
              <a:t>을 통해 입력 이미지 사이즈를 균일하게 맞추고</a:t>
            </a:r>
            <a:r>
              <a:rPr lang="en-US" altLang="ko-KR" sz="1000" dirty="0"/>
              <a:t>, </a:t>
            </a:r>
            <a:r>
              <a:rPr lang="ko-KR" altLang="en-US" sz="1000" dirty="0"/>
              <a:t>데이터셋을 </a:t>
            </a:r>
            <a:r>
              <a:rPr lang="en-US" altLang="ko-KR" sz="1000" dirty="0"/>
              <a:t>2~3</a:t>
            </a:r>
            <a:r>
              <a:rPr lang="ko-KR" altLang="en-US" sz="1000" dirty="0"/>
              <a:t>배 증강</a:t>
            </a:r>
            <a:r>
              <a:rPr lang="en-US" altLang="ko-KR" sz="1000" dirty="0"/>
              <a:t>, epoch 100</a:t>
            </a:r>
            <a:r>
              <a:rPr lang="ko-KR" altLang="en-US" sz="1000" dirty="0"/>
              <a:t> 이상 조건에서 학습</a:t>
            </a:r>
            <a:r>
              <a:rPr lang="en-US" altLang="ko-KR" sz="1000" dirty="0"/>
              <a:t>, </a:t>
            </a:r>
            <a:r>
              <a:rPr lang="ko-KR" altLang="en-US" sz="1000" dirty="0"/>
              <a:t>검증</a:t>
            </a:r>
            <a:r>
              <a:rPr lang="en-US" altLang="ko-KR" sz="1000" dirty="0"/>
              <a:t>, </a:t>
            </a:r>
            <a:r>
              <a:rPr lang="ko-KR" altLang="en-US" sz="1000" dirty="0"/>
              <a:t>테스트 결과 분석 필요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7952462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816820"/>
            <a:ext cx="8582037" cy="5870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한계점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80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en-US" altLang="ko-KR" sz="1400" b="0" dirty="0">
                <a:latin typeface="noto"/>
              </a:rPr>
              <a:t>Google </a:t>
            </a:r>
            <a:r>
              <a:rPr lang="en-US" altLang="ko-KR" sz="1400" b="0" dirty="0" err="1">
                <a:latin typeface="noto"/>
              </a:rPr>
              <a:t>colab</a:t>
            </a:r>
            <a:r>
              <a:rPr lang="en-US" altLang="ko-KR" sz="1400" b="0" dirty="0">
                <a:latin typeface="noto"/>
              </a:rPr>
              <a:t> </a:t>
            </a:r>
            <a:r>
              <a:rPr lang="ko-KR" altLang="en-US" sz="1400" b="0" dirty="0">
                <a:latin typeface="noto"/>
              </a:rPr>
              <a:t>환경 제한</a:t>
            </a:r>
            <a:endParaRPr lang="en-US" altLang="ko-KR" sz="1400" b="0" dirty="0">
              <a:latin typeface="noto"/>
            </a:endParaRPr>
          </a:p>
          <a:p>
            <a:pPr marL="720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b="0" dirty="0">
                <a:latin typeface="noto"/>
              </a:rPr>
              <a:t>제한된 </a:t>
            </a:r>
            <a:r>
              <a:rPr lang="en-US" altLang="ko-KR" sz="1400" b="0" dirty="0">
                <a:latin typeface="noto"/>
              </a:rPr>
              <a:t>GPU </a:t>
            </a:r>
            <a:r>
              <a:rPr lang="ko-KR" altLang="en-US" sz="1400" b="0" dirty="0">
                <a:latin typeface="noto"/>
              </a:rPr>
              <a:t>성능 및 사용 시간으로 모든 학습 </a:t>
            </a:r>
            <a:r>
              <a:rPr lang="en-US" altLang="ko-KR" sz="1400" b="0" dirty="0">
                <a:latin typeface="noto"/>
              </a:rPr>
              <a:t>32 epochs</a:t>
            </a:r>
            <a:r>
              <a:rPr lang="ko-KR" altLang="en-US" sz="1400" b="0" dirty="0">
                <a:latin typeface="noto"/>
              </a:rPr>
              <a:t>로 제한</a:t>
            </a:r>
            <a:endParaRPr lang="en-US" altLang="ko-KR" sz="1400" b="0" dirty="0">
              <a:latin typeface="noto"/>
            </a:endParaRPr>
          </a:p>
          <a:p>
            <a:pPr marL="720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b="0" dirty="0">
                <a:latin typeface="noto"/>
              </a:rPr>
              <a:t>고해상도 이미지</a:t>
            </a:r>
            <a:r>
              <a:rPr lang="en-US" altLang="ko-KR" sz="1400" b="0" dirty="0">
                <a:latin typeface="noto"/>
              </a:rPr>
              <a:t>(1280*1280) </a:t>
            </a:r>
            <a:r>
              <a:rPr lang="ko-KR" altLang="en-US" sz="1400" b="0" dirty="0">
                <a:latin typeface="noto"/>
              </a:rPr>
              <a:t>입력을 유지한 학습 불가</a:t>
            </a:r>
            <a:r>
              <a:rPr lang="en-US" altLang="ko-KR" sz="1400" b="0" dirty="0">
                <a:latin typeface="noto"/>
              </a:rPr>
              <a:t>, </a:t>
            </a:r>
            <a:r>
              <a:rPr lang="ko-KR" altLang="en-US" sz="1400" b="0" dirty="0">
                <a:latin typeface="noto"/>
              </a:rPr>
              <a:t>학습 중 자동으로 </a:t>
            </a:r>
            <a:r>
              <a:rPr lang="en-US" altLang="ko-KR" sz="1400" b="0" dirty="0">
                <a:latin typeface="noto"/>
              </a:rPr>
              <a:t>640*640</a:t>
            </a:r>
            <a:r>
              <a:rPr lang="ko-KR" altLang="en-US" sz="1400" b="0" dirty="0">
                <a:latin typeface="noto"/>
              </a:rPr>
              <a:t>으로 </a:t>
            </a:r>
            <a:r>
              <a:rPr lang="en-US" altLang="ko-KR" sz="1400" b="0" dirty="0">
                <a:latin typeface="noto"/>
              </a:rPr>
              <a:t>resizing</a:t>
            </a:r>
          </a:p>
          <a:p>
            <a:pPr marL="720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b="0" dirty="0">
                <a:latin typeface="noto"/>
              </a:rPr>
              <a:t>강력한 컴퓨팅 환경에서 고해상도 이미지를 학습에 활용하면 성능 향상 가능성 있음</a:t>
            </a:r>
            <a:r>
              <a:rPr lang="en-US" altLang="ko-KR" sz="1400" b="0" dirty="0">
                <a:latin typeface="noto"/>
              </a:rPr>
              <a:t>.</a:t>
            </a:r>
          </a:p>
          <a:p>
            <a:pPr marL="58680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ko-KR" altLang="en-US" sz="1400" b="0" dirty="0">
                <a:latin typeface="noto"/>
              </a:rPr>
              <a:t>어노테이션 관련 제한</a:t>
            </a:r>
            <a:endParaRPr lang="en-US" altLang="ko-KR" sz="1400" b="0" dirty="0">
              <a:latin typeface="noto"/>
            </a:endParaRPr>
          </a:p>
          <a:p>
            <a:pPr marL="720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dirty="0">
                <a:latin typeface="noto"/>
              </a:rPr>
              <a:t>DAWN, ACDC </a:t>
            </a:r>
            <a:r>
              <a:rPr lang="ko-KR" altLang="en-US" sz="1400" b="0" dirty="0">
                <a:latin typeface="noto"/>
              </a:rPr>
              <a:t>데이터셋 수동으로 새롭게 어노테이션 진행</a:t>
            </a:r>
            <a:r>
              <a:rPr lang="en-US" altLang="ko-KR" sz="1400" b="0" dirty="0">
                <a:latin typeface="noto"/>
              </a:rPr>
              <a:t>(3rd party tool </a:t>
            </a:r>
            <a:r>
              <a:rPr lang="ko-KR" altLang="en-US" sz="1400" b="0" dirty="0">
                <a:latin typeface="noto"/>
              </a:rPr>
              <a:t>활용</a:t>
            </a:r>
            <a:r>
              <a:rPr lang="en-US" altLang="ko-KR" sz="1400" b="0" dirty="0">
                <a:latin typeface="noto"/>
              </a:rPr>
              <a:t>)</a:t>
            </a:r>
          </a:p>
          <a:p>
            <a:pPr marL="58680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arenR" startAt="3"/>
            </a:pPr>
            <a:r>
              <a:rPr lang="ko-KR" altLang="en-US" sz="1400" b="0" dirty="0">
                <a:latin typeface="noto"/>
              </a:rPr>
              <a:t>정확도 평가의 한계</a:t>
            </a:r>
            <a:endParaRPr lang="en-US" altLang="ko-KR" sz="1400" b="0" dirty="0">
              <a:latin typeface="noto"/>
            </a:endParaRPr>
          </a:p>
          <a:p>
            <a:pPr marL="720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i="0" dirty="0">
                <a:solidFill>
                  <a:srgbClr val="000000"/>
                </a:solidFill>
                <a:effectLst/>
                <a:latin typeface="noto"/>
              </a:rPr>
              <a:t>COCO 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noto"/>
              </a:rPr>
              <a:t>클래스 기준 상위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noto"/>
              </a:rPr>
              <a:t>10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noto"/>
              </a:rPr>
              <a:t>개 클래스 중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noto"/>
              </a:rPr>
              <a:t>airplane, boat 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noto"/>
              </a:rPr>
              <a:t>이미지는 학습 시 제외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noto"/>
              </a:rPr>
              <a:t>두 개 이미지를 테스트셋에 포함시키자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noto"/>
              </a:rPr>
              <a:t>mAP50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noto"/>
              </a:rPr>
              <a:t>가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noto"/>
              </a:rPr>
              <a:t>0.781 → 0.824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noto"/>
              </a:rPr>
              <a:t>로 인위적으로 상승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noto"/>
              </a:rPr>
              <a:t> (</a:t>
            </a:r>
            <a:r>
              <a:rPr lang="en-US" altLang="ko-KR" sz="1400" b="0" dirty="0">
                <a:latin typeface="noto"/>
              </a:rPr>
              <a:t>YOLO</a:t>
            </a:r>
            <a:r>
              <a:rPr lang="ko-KR" altLang="en-US" sz="1400" b="0" dirty="0">
                <a:latin typeface="noto"/>
              </a:rPr>
              <a:t> 탐지 성공</a:t>
            </a:r>
            <a:r>
              <a:rPr lang="en-US" altLang="ko-KR" sz="1400" b="0" dirty="0">
                <a:latin typeface="noto"/>
              </a:rPr>
              <a:t>)</a:t>
            </a:r>
            <a:endParaRPr lang="en-US" altLang="ko-KR" sz="1400" b="0" i="0" dirty="0">
              <a:solidFill>
                <a:srgbClr val="000000"/>
              </a:solidFill>
              <a:effectLst/>
              <a:latin typeface="noto"/>
            </a:endParaRPr>
          </a:p>
          <a:p>
            <a:pPr marL="720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b="0" dirty="0">
              <a:latin typeface="noto"/>
            </a:endParaRPr>
          </a:p>
          <a:p>
            <a:pPr marL="720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b="0" dirty="0">
              <a:latin typeface="noto"/>
            </a:endParaRPr>
          </a:p>
          <a:p>
            <a:pPr marL="720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b="0" dirty="0">
              <a:latin typeface="noto"/>
            </a:endParaRPr>
          </a:p>
          <a:p>
            <a:pPr marL="720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b="0" dirty="0">
              <a:latin typeface="noto"/>
            </a:endParaRPr>
          </a:p>
          <a:p>
            <a:pPr marL="720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b="0" dirty="0">
              <a:latin typeface="noto"/>
            </a:endParaRPr>
          </a:p>
          <a:p>
            <a:pPr marL="720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b="0" i="0" dirty="0">
              <a:solidFill>
                <a:srgbClr val="000000"/>
              </a:solidFill>
              <a:effectLst/>
              <a:latin typeface="noto"/>
            </a:endParaRPr>
          </a:p>
          <a:p>
            <a:pPr marL="720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b="0" i="0" dirty="0">
              <a:solidFill>
                <a:srgbClr val="000000"/>
              </a:solidFill>
              <a:effectLst/>
              <a:latin typeface="noto"/>
            </a:endParaRPr>
          </a:p>
          <a:p>
            <a:pPr marL="720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b="0" i="0" dirty="0">
                <a:solidFill>
                  <a:srgbClr val="000000"/>
                </a:solidFill>
                <a:effectLst/>
                <a:latin typeface="noto"/>
              </a:rPr>
              <a:t>같은 조건에서 </a:t>
            </a:r>
            <a:r>
              <a:rPr lang="en-US" altLang="ko-KR" sz="1400" b="0" dirty="0">
                <a:latin typeface="noto"/>
              </a:rPr>
              <a:t>YOLO</a:t>
            </a:r>
            <a:r>
              <a:rPr lang="ko-KR" altLang="en-US" sz="1400" b="0" dirty="0">
                <a:latin typeface="noto"/>
              </a:rPr>
              <a:t> 탐지 실패 시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noto"/>
              </a:rPr>
              <a:t>mAP50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noto"/>
              </a:rPr>
              <a:t>가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noto"/>
              </a:rPr>
              <a:t>0.747 → 0.597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noto"/>
              </a:rPr>
              <a:t>로 하락</a:t>
            </a:r>
            <a:endParaRPr lang="en-US" altLang="ko-KR" sz="1400" b="0" i="0" dirty="0">
              <a:solidFill>
                <a:srgbClr val="000000"/>
              </a:solidFill>
              <a:effectLst/>
              <a:latin typeface="noto"/>
            </a:endParaRPr>
          </a:p>
          <a:p>
            <a:pPr marL="720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b="0" i="0" dirty="0">
                <a:solidFill>
                  <a:srgbClr val="000000"/>
                </a:solidFill>
                <a:effectLst/>
                <a:latin typeface="noto"/>
              </a:rPr>
              <a:t>이는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noto"/>
              </a:rPr>
              <a:t>YOLO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noto"/>
              </a:rPr>
              <a:t>의 정확도 계산이 드물거나 존재하지 않는 클래스에 의해 쉽게 영향을 받을 수 있음</a:t>
            </a:r>
            <a:endParaRPr lang="en-US" altLang="ko-KR" sz="1400" b="0" i="0" dirty="0">
              <a:solidFill>
                <a:srgbClr val="000000"/>
              </a:solidFill>
              <a:effectLst/>
              <a:latin typeface="noto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한계점</a:t>
            </a:r>
            <a:r>
              <a:rPr lang="en-US" altLang="ko-KR" dirty="0"/>
              <a:t> </a:t>
            </a:r>
            <a:r>
              <a:rPr lang="ko-KR" altLang="en-US" dirty="0"/>
              <a:t>및 토론 </a:t>
            </a:r>
            <a:r>
              <a:rPr lang="en-US" altLang="ko-KR" dirty="0"/>
              <a:t>(Limitations &amp; Discussions)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AFDFE98-1CC4-4A95-8FE6-6867F3938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60" y="3659437"/>
            <a:ext cx="3150035" cy="8665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0178B54-AC22-40C2-B040-04C49DB08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960" y="4581361"/>
            <a:ext cx="3150035" cy="10203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F28EC76-CD28-47DC-9F2A-F3C4C7E67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1998" y="3659437"/>
            <a:ext cx="3396087" cy="8665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CC1185E-FBAF-40B0-995D-76A91B77BB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1997" y="4581361"/>
            <a:ext cx="3336751" cy="10151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CA1B11-A0FB-4495-80FF-DB7DC50627BD}"/>
              </a:ext>
            </a:extLst>
          </p:cNvPr>
          <p:cNvSpPr/>
          <p:nvPr/>
        </p:nvSpPr>
        <p:spPr bwMode="auto">
          <a:xfrm>
            <a:off x="1871970" y="3752303"/>
            <a:ext cx="198498" cy="77372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A5B1367-2595-4D8F-89EB-2755B3067107}"/>
              </a:ext>
            </a:extLst>
          </p:cNvPr>
          <p:cNvSpPr/>
          <p:nvPr/>
        </p:nvSpPr>
        <p:spPr bwMode="auto">
          <a:xfrm>
            <a:off x="1871969" y="4663767"/>
            <a:ext cx="198498" cy="93269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B6097-7610-4EF8-86CB-C3ACCEA2C415}"/>
              </a:ext>
            </a:extLst>
          </p:cNvPr>
          <p:cNvSpPr/>
          <p:nvPr/>
        </p:nvSpPr>
        <p:spPr bwMode="auto">
          <a:xfrm>
            <a:off x="1153287" y="5049019"/>
            <a:ext cx="448680" cy="1401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BAC5FF-69D3-4D1D-A49C-8B0F24BEB331}"/>
              </a:ext>
            </a:extLst>
          </p:cNvPr>
          <p:cNvSpPr/>
          <p:nvPr/>
        </p:nvSpPr>
        <p:spPr bwMode="auto">
          <a:xfrm>
            <a:off x="1137315" y="5409022"/>
            <a:ext cx="448680" cy="1401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5D564A-E944-4D77-853C-00E3E53E71ED}"/>
              </a:ext>
            </a:extLst>
          </p:cNvPr>
          <p:cNvSpPr/>
          <p:nvPr/>
        </p:nvSpPr>
        <p:spPr bwMode="auto">
          <a:xfrm>
            <a:off x="4752002" y="5047841"/>
            <a:ext cx="540006" cy="1401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EDD46EC-B3FB-414F-9262-952CCBC08A9D}"/>
              </a:ext>
            </a:extLst>
          </p:cNvPr>
          <p:cNvSpPr/>
          <p:nvPr/>
        </p:nvSpPr>
        <p:spPr bwMode="auto">
          <a:xfrm>
            <a:off x="4827356" y="5407844"/>
            <a:ext cx="448680" cy="1401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327F6FD-293F-4608-9BB3-8594132FA625}"/>
              </a:ext>
            </a:extLst>
          </p:cNvPr>
          <p:cNvSpPr/>
          <p:nvPr/>
        </p:nvSpPr>
        <p:spPr bwMode="auto">
          <a:xfrm>
            <a:off x="5472010" y="3746380"/>
            <a:ext cx="198498" cy="77372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6F34B2E-DCFB-454D-89C1-F077999BCF8A}"/>
              </a:ext>
            </a:extLst>
          </p:cNvPr>
          <p:cNvSpPr/>
          <p:nvPr/>
        </p:nvSpPr>
        <p:spPr bwMode="auto">
          <a:xfrm>
            <a:off x="5476610" y="4674206"/>
            <a:ext cx="198498" cy="93269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4A5EA53-F1EC-488C-8EAF-1DD752F2B6B3}"/>
              </a:ext>
            </a:extLst>
          </p:cNvPr>
          <p:cNvSpPr/>
          <p:nvPr/>
        </p:nvSpPr>
        <p:spPr bwMode="auto">
          <a:xfrm>
            <a:off x="3354433" y="3659437"/>
            <a:ext cx="767562" cy="17709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D0C5871-DFBE-4CB4-A17D-365E1D7A3E5B}"/>
              </a:ext>
            </a:extLst>
          </p:cNvPr>
          <p:cNvSpPr/>
          <p:nvPr/>
        </p:nvSpPr>
        <p:spPr bwMode="auto">
          <a:xfrm>
            <a:off x="3354433" y="4561443"/>
            <a:ext cx="767562" cy="19765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68CC29B-39A3-4033-8F22-F42AB164ADF6}"/>
              </a:ext>
            </a:extLst>
          </p:cNvPr>
          <p:cNvSpPr/>
          <p:nvPr/>
        </p:nvSpPr>
        <p:spPr bwMode="auto">
          <a:xfrm>
            <a:off x="7020523" y="3637594"/>
            <a:ext cx="767562" cy="19893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DB5511-A7E2-4FF0-996D-BC8EF4394A56}"/>
              </a:ext>
            </a:extLst>
          </p:cNvPr>
          <p:cNvSpPr/>
          <p:nvPr/>
        </p:nvSpPr>
        <p:spPr bwMode="auto">
          <a:xfrm>
            <a:off x="6973580" y="4581361"/>
            <a:ext cx="767562" cy="19765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8218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1" y="871757"/>
            <a:ext cx="8402035" cy="568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kern="0" dirty="0">
                <a:solidFill>
                  <a:schemeClr val="accent1">
                    <a:lumMod val="75000"/>
                  </a:schemeClr>
                </a:solidFill>
              </a:rPr>
              <a:t>원본 이미지의 </a:t>
            </a:r>
            <a:r>
              <a:rPr lang="ko-KR" altLang="en-US" kern="0" dirty="0" err="1">
                <a:solidFill>
                  <a:schemeClr val="accent1">
                    <a:lumMod val="75000"/>
                  </a:schemeClr>
                </a:solidFill>
              </a:rPr>
              <a:t>전처리</a:t>
            </a:r>
            <a:r>
              <a:rPr lang="ko-KR" altLang="en-US" kern="0" dirty="0">
                <a:solidFill>
                  <a:schemeClr val="accent1">
                    <a:lumMod val="75000"/>
                  </a:schemeClr>
                </a:solidFill>
              </a:rPr>
              <a:t> 및 </a:t>
            </a:r>
            <a:r>
              <a:rPr lang="ko-KR" altLang="en-US" kern="0" dirty="0" err="1">
                <a:solidFill>
                  <a:schemeClr val="accent1">
                    <a:lumMod val="75000"/>
                  </a:schemeClr>
                </a:solidFill>
              </a:rPr>
              <a:t>하이퍼</a:t>
            </a:r>
            <a:r>
              <a:rPr lang="ko-KR" altLang="en-US" kern="0" dirty="0">
                <a:solidFill>
                  <a:schemeClr val="accent1">
                    <a:lumMod val="75000"/>
                  </a:schemeClr>
                </a:solidFill>
              </a:rPr>
              <a:t> 파라미터 설정 세분화</a:t>
            </a:r>
            <a:endParaRPr lang="en-US" altLang="ko-KR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770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원본 이미지에 대해 입력 사이즈 균일하게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resizing</a:t>
            </a:r>
          </a:p>
          <a:p>
            <a:pPr marL="792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640*640</a:t>
            </a:r>
          </a:p>
          <a:p>
            <a:pPr marL="792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1280*1280(</a:t>
            </a:r>
            <a:r>
              <a:rPr lang="ko-KR" altLang="en-US" sz="1400" b="0" kern="0" dirty="0" err="1">
                <a:solidFill>
                  <a:schemeClr val="tx1"/>
                </a:solidFill>
                <a:latin typeface="+mn-ea"/>
                <a:ea typeface="+mn-ea"/>
              </a:rPr>
              <a:t>하이퍼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파라미터 중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n-ea"/>
                <a:ea typeface="+mn-ea"/>
              </a:rPr>
              <a:t>imgsz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=640 </a:t>
            </a:r>
            <a:r>
              <a:rPr lang="en-US" altLang="ko-KR" sz="1400" b="0" kern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</a:t>
            </a:r>
            <a:r>
              <a:rPr lang="en-US" altLang="ko-KR" sz="1400" b="0" kern="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imgsz</a:t>
            </a:r>
            <a:r>
              <a:rPr lang="en-US" altLang="ko-KR" sz="1400" b="0" kern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=1280 </a:t>
            </a:r>
            <a:r>
              <a:rPr lang="ko-KR" altLang="en-US" sz="1400" b="0" kern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설정</a:t>
            </a:r>
            <a:r>
              <a:rPr lang="en-US" altLang="ko-KR" sz="1400" b="0" kern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lang="en-US" altLang="ko-KR" sz="1400" b="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770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arenR"/>
            </a:pPr>
            <a:endParaRPr lang="en-US" altLang="ko-KR" sz="1400" b="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770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이미지 증강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(augmentation)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을 통해 모델이 다양한 상황에 대응할 수 있도록 준비</a:t>
            </a:r>
            <a:endParaRPr lang="en-US" altLang="ko-KR" sz="1400" b="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792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Horizontal flip</a:t>
            </a:r>
          </a:p>
          <a:p>
            <a:pPr marL="792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Cropping</a:t>
            </a:r>
          </a:p>
          <a:p>
            <a:pPr marL="792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Rotation</a:t>
            </a:r>
          </a:p>
          <a:p>
            <a:pPr marL="792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Shear</a:t>
            </a:r>
          </a:p>
          <a:p>
            <a:pPr marL="792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Blur</a:t>
            </a:r>
          </a:p>
          <a:p>
            <a:pPr marL="792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etc.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altLang="ko-KR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7700" indent="-342900">
              <a:lnSpc>
                <a:spcPct val="100000"/>
              </a:lnSpc>
              <a:spcBef>
                <a:spcPts val="600"/>
              </a:spcBef>
              <a:buFont typeface="+mj-lt"/>
              <a:buAutoNum type="arabicParenR" startAt="3"/>
            </a:pP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학습 </a:t>
            </a:r>
            <a:r>
              <a:rPr lang="ko-KR" altLang="en-US" sz="1400" b="0" kern="0" dirty="0" err="1">
                <a:solidFill>
                  <a:schemeClr val="tx1"/>
                </a:solidFill>
                <a:latin typeface="+mn-ea"/>
                <a:ea typeface="+mn-ea"/>
              </a:rPr>
              <a:t>하이퍼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파라미터 설정</a:t>
            </a:r>
            <a:endParaRPr lang="en-US" altLang="ko-KR" sz="1400" b="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792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epochs, batch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size,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learning rate, weight decay 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등 주요 </a:t>
            </a:r>
            <a:r>
              <a:rPr lang="ko-KR" altLang="en-US" sz="1400" b="0" kern="0" dirty="0" err="1">
                <a:solidFill>
                  <a:schemeClr val="tx1"/>
                </a:solidFill>
                <a:latin typeface="+mn-ea"/>
                <a:ea typeface="+mn-ea"/>
              </a:rPr>
              <a:t>하이퍼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파라미터 조정하여 안정적인 수렴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b="0" kern="0" dirty="0" err="1">
                <a:solidFill>
                  <a:schemeClr val="tx1"/>
                </a:solidFill>
                <a:latin typeface="+mn-ea"/>
                <a:ea typeface="+mn-ea"/>
              </a:rPr>
              <a:t>오버피팅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방지</a:t>
            </a:r>
            <a:endParaRPr lang="en-US" altLang="ko-KR" sz="1400" b="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792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파라미터 </a:t>
            </a:r>
            <a:r>
              <a:rPr lang="ko-KR" altLang="en-US" sz="1400" b="0" kern="0" dirty="0" err="1">
                <a:solidFill>
                  <a:schemeClr val="tx1"/>
                </a:solidFill>
                <a:latin typeface="+mn-ea"/>
                <a:ea typeface="+mn-ea"/>
              </a:rPr>
              <a:t>최적값을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찾는 최적화 함수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(optimizer)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를 다양하게 설정하여 학습 시도 및 비교 평가</a:t>
            </a:r>
            <a:endParaRPr lang="en-US" altLang="ko-KR" sz="1400" b="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7920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optimizer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SGD, Adam,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n-ea"/>
                <a:ea typeface="+mn-ea"/>
              </a:rPr>
              <a:t>AdamW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, Momentum,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n-ea"/>
                <a:ea typeface="+mn-ea"/>
              </a:rPr>
              <a:t>RMSProp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n-ea"/>
                <a:ea typeface="+mn-ea"/>
              </a:rPr>
              <a:t>Adagrad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등</a:t>
            </a:r>
            <a:endParaRPr lang="en-US" altLang="ko-KR" sz="1400" b="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7700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3"/>
            </a:pPr>
            <a:endParaRPr lang="en-US" altLang="ko-KR" sz="14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향후 연구 방향</a:t>
            </a:r>
          </a:p>
        </p:txBody>
      </p:sp>
    </p:spTree>
    <p:extLst>
      <p:ext uri="{BB962C8B-B14F-4D97-AF65-F5344CB8AC3E}">
        <p14:creationId xmlns:p14="http://schemas.microsoft.com/office/powerpoint/2010/main" val="236320179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7D46-C139-9199-B45A-7A777DE9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98DF2-0FED-0E54-CAA4-04A96F7E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altLang="ko-KR" dirty="0"/>
              <a:t> </a:t>
            </a:r>
            <a:r>
              <a:rPr lang="ko-KR" altLang="en-US" dirty="0"/>
              <a:t>문헌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89359B3-1031-4C36-950F-24BBB79F4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3" y="1088974"/>
            <a:ext cx="8312033" cy="3947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 marL="304800" indent="-304800" algn="just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[1] Valentina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Musat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, Ivan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Fursa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, Paul Newman, Fabio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Cuzzolin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, Andrew Bradley, A. Multi-Weather City: Adverse Weather Stacking for Autonomous Driving, 2021</a:t>
            </a:r>
          </a:p>
          <a:p>
            <a:pPr marL="304800" indent="-304800" algn="just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[2]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Izzeddin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Teeti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, Valentina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Musat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, Salman Khan, Alexander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Rast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, Fabio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Cuzzolin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, Andrew Bradley, Vision in adverse weather: Augmentation using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CycleGANs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with various object detectors for robust perception in autonomous racing, 2023</a:t>
            </a:r>
          </a:p>
          <a:p>
            <a:pPr marL="304800" indent="-304800" algn="just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[3] Aroona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Ayub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HyungWon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Kim, GAN-Based Data Augmentation with Vehicle Color Changes to Train a Vehicle Detection CNN, 2024</a:t>
            </a:r>
          </a:p>
          <a:p>
            <a:pPr marL="304800" indent="-304800" algn="just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[4]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Jeong-gi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Kwak,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Youngsaeng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Jin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Yuanming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Li,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Dongsik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Yoon,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Donghyeon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Kim, </a:t>
            </a:r>
            <a:r>
              <a:rPr lang="en-US" altLang="ko-KR" sz="1400" b="0" kern="0" dirty="0" err="1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Hanseok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Ko, Adverse Weather Image Translation with Asymmetric and Uncertainty-aware GAN, 2021</a:t>
            </a:r>
          </a:p>
          <a:p>
            <a:pPr marL="304800" indent="-304800" algn="just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[5] 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  <a:hlinkClick r:id="rId3"/>
              </a:rPr>
              <a:t>https://data.mendeley.com/datasets/766ygrbt8y/3</a:t>
            </a:r>
            <a:endParaRPr lang="en-US" altLang="ko-KR" sz="1400" b="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304800" indent="-304800" algn="just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[6] </a:t>
            </a: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  <a:hlinkClick r:id="rId4"/>
              </a:rPr>
              <a:t>https://acdc.vision.ee.ethz.ch/download</a:t>
            </a:r>
            <a:endParaRPr lang="en-US" altLang="ko-KR" sz="1400" b="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304800" indent="-304800" algn="just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ko-KR" sz="1400" b="0" i="0" kern="0" dirty="0">
                <a:solidFill>
                  <a:schemeClr val="accent1">
                    <a:lumMod val="75000"/>
                  </a:schemeClr>
                </a:solidFill>
                <a:effectLst/>
                <a:latin typeface="+mn-ea"/>
                <a:ea typeface="+mn-ea"/>
              </a:rPr>
              <a:t>[7] </a:t>
            </a:r>
            <a:r>
              <a:rPr lang="en-US" altLang="ko-KR" sz="1400" b="0" i="0" kern="0" dirty="0">
                <a:solidFill>
                  <a:schemeClr val="accent1">
                    <a:lumMod val="75000"/>
                  </a:schemeClr>
                </a:solidFill>
                <a:effectLst/>
                <a:latin typeface="+mn-ea"/>
                <a:ea typeface="+mn-ea"/>
                <a:hlinkClick r:id="rId5"/>
              </a:rPr>
              <a:t>https://roboflow.com</a:t>
            </a:r>
            <a:endParaRPr lang="en-US" altLang="ko-KR" sz="1400" b="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304800" indent="-304800" algn="just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ko-KR" sz="1400" b="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[8] </a:t>
            </a:r>
            <a:r>
              <a:rPr lang="en-US" altLang="ko-KR" sz="1600" dirty="0">
                <a:hlinkClick r:id="rId6"/>
              </a:rPr>
              <a:t>AI-Hub</a:t>
            </a:r>
            <a:endParaRPr lang="en-US" altLang="ko-KR" sz="1400" b="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304800" indent="-304800" algn="just">
              <a:lnSpc>
                <a:spcPct val="110000"/>
              </a:lnSpc>
              <a:spcBef>
                <a:spcPts val="600"/>
              </a:spcBef>
              <a:buNone/>
            </a:pPr>
            <a:endParaRPr lang="en-US" altLang="ko-KR" sz="1400" b="0" i="0" kern="0" dirty="0">
              <a:solidFill>
                <a:srgbClr val="0033CC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03631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951C254-D3FE-4F55-B884-40C49A8602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6399033"/>
            <a:ext cx="1444806" cy="26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42296-B25A-27A7-7E69-7939DB0BA19F}"/>
              </a:ext>
            </a:extLst>
          </p:cNvPr>
          <p:cNvSpPr txBox="1"/>
          <p:nvPr/>
        </p:nvSpPr>
        <p:spPr>
          <a:xfrm>
            <a:off x="1016960" y="2078985"/>
            <a:ext cx="7110079" cy="2133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5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감사합니다</a:t>
            </a:r>
            <a:endParaRPr lang="en-US" altLang="ko-KR" sz="5400" b="1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5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Q&amp;A</a:t>
            </a:r>
            <a:endParaRPr lang="ko-KR" altLang="en-US" sz="5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323391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2004:Templates:Presentations:Designs:Calm Seas</Template>
  <TotalTime>59905</TotalTime>
  <Words>3265</Words>
  <Application>Microsoft Office PowerPoint</Application>
  <PresentationFormat>화면 슬라이드 쇼(4:3)</PresentationFormat>
  <Paragraphs>790</Paragraphs>
  <Slides>31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42" baseType="lpstr">
      <vt:lpstr>noto</vt:lpstr>
      <vt:lpstr>나눔고딕 ExtraBold</vt:lpstr>
      <vt:lpstr>맑은 고딕</vt:lpstr>
      <vt:lpstr>Arial</vt:lpstr>
      <vt:lpstr>Cambria</vt:lpstr>
      <vt:lpstr>Cambria Math</vt:lpstr>
      <vt:lpstr>Corbel</vt:lpstr>
      <vt:lpstr>Times New Roman</vt:lpstr>
      <vt:lpstr>Wingdings</vt:lpstr>
      <vt:lpstr>1_Default Design</vt:lpstr>
      <vt:lpstr>2_Default Design</vt:lpstr>
      <vt:lpstr>PowerPoint 프레젠테이션</vt:lpstr>
      <vt:lpstr>목차</vt:lpstr>
      <vt:lpstr>목차</vt:lpstr>
      <vt:lpstr>프로젝트 #1 개요</vt:lpstr>
      <vt:lpstr>프로젝트 #1 개요</vt:lpstr>
      <vt:lpstr>서론 (Introduction)</vt:lpstr>
      <vt:lpstr>서론 (Introduction)</vt:lpstr>
      <vt:lpstr>방법 및 구현 (Methodology &amp; Implementation)</vt:lpstr>
      <vt:lpstr>방법 및 구현 (Methodology &amp; Implementation)</vt:lpstr>
      <vt:lpstr>방법 및 구현 (Methodology &amp; Implementation)</vt:lpstr>
      <vt:lpstr>방법 및 구현 (Methodology &amp; Implementation)</vt:lpstr>
      <vt:lpstr>방법 및 구현 (Methodology &amp; Implementation)</vt:lpstr>
      <vt:lpstr>실험 구성 및 평가 방법 (Experiment Settings) </vt:lpstr>
      <vt:lpstr>실험 구성 및 평가 방법 (Experiment Settings) </vt:lpstr>
      <vt:lpstr>실험 구성 및 평가 방법 (Experiment Settings) </vt:lpstr>
      <vt:lpstr>실험 구성 및 평가 방법 (Experiment Settings) </vt:lpstr>
      <vt:lpstr>실험 구성 및 평가 방법 (Experiment Settings) </vt:lpstr>
      <vt:lpstr>결과 및 분석 (Results &amp; Analysis)</vt:lpstr>
      <vt:lpstr>결과 및 분석 (Results &amp; Analysis)</vt:lpstr>
      <vt:lpstr>결과 및 분석 (Results &amp; Analysis)</vt:lpstr>
      <vt:lpstr>결과 및 분석 (Results &amp; Analysis)</vt:lpstr>
      <vt:lpstr>결과 및 분석 (Results &amp; Analysis)</vt:lpstr>
      <vt:lpstr>결과 및 분석 (Results &amp; Analysis)</vt:lpstr>
      <vt:lpstr>결과 및 분석 (Results &amp; Analysis)</vt:lpstr>
      <vt:lpstr>결과 및 분석 (Results &amp; Analysis)</vt:lpstr>
      <vt:lpstr>결과 및 분석 (Results &amp; Analysis)</vt:lpstr>
      <vt:lpstr>결과 및 분석 (Results &amp; Analysis)</vt:lpstr>
      <vt:lpstr>한계점 및 토론 (Limitations &amp; Discussions)</vt:lpstr>
      <vt:lpstr>향후 연구 방향</vt:lpstr>
      <vt:lpstr>참고 문헌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이광연</dc:creator>
  <cp:lastModifiedBy>Jinha Kim</cp:lastModifiedBy>
  <cp:revision>3237</cp:revision>
  <cp:lastPrinted>2023-01-25T05:07:50Z</cp:lastPrinted>
  <dcterms:created xsi:type="dcterms:W3CDTF">2004-08-18T11:28:05Z</dcterms:created>
  <dcterms:modified xsi:type="dcterms:W3CDTF">2025-04-21T10:35:11Z</dcterms:modified>
</cp:coreProperties>
</file>